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warmly. Confirm logistics: Python installed, OpenAI API key working, Claude Pro active. Then walk through the 8-week arc on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arc. Today we're at Week 1. Confirm he's read the outline doc. If not, briefly walk through what each week contains.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 walk. Tell him: we move at this pace but adjust to where you are. Don't worry about pacing yet; just know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4 ideas we'll keep coming back to. The other 5 from the article are real but these 4 are the ones that drive 90% of how we'll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on this slide. Ask him: 'When you used ChatGPT for the first time, did you think of it as looking things up?' Most people do. The reframe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thesis of the whole course. Land it hard. 'Everything in the next 8 weeks is about engineering that desk.'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hard: you are the missing second faculty. When we get to evals, guardrails, RAG in later weeks, this is the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reframe: an agent isn't magical. It's prediction + tools + a loop. All the production complexity is in HOW that loop is wired.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most important slide. If he remembers nothing else, he remembers: prompt easy, context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him: I picked this stack because it's what I ship with. Not because it's the only valid one. Going deep on one stack beats surface knowledge of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build segment. He follows along on his machine. Pause between each step. Ask: what changed?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block. Don't just read it, ask him to predict what each returns. Then run it. Then ask him to spot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he knows what 'done' looks like. Send him the starter scaffold over WhatsApp. Tell him to ping you when stuck, not after staying stuck for 3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Wrap. Confirm next session time. Tell him: between now and then, this is the most important week. The mini project locks in everything from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28600" cy="228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E8C5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Mental Models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73152" cy="7315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5120640"/>
            <a:ext cx="73152" cy="7315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5120640"/>
            <a:ext cx="73152" cy="7315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HASHIR</a:t>
            </a:r>
            <a:pPr indent="0" marL="0">
              <a:buNone/>
            </a:pPr>
            <a:r>
              <a:rPr lang="en-US" sz="16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Lead AI Engineer  ·  Week 1 of 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is going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weeks, from foundations to shipping production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5848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45736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45736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35624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25512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25512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15400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1540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305288" y="21945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05288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05288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52144" y="3584448"/>
            <a:ext cx="128016" cy="137160"/>
          </a:xfrm>
          <a:prstGeom prst="upArrow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ends with a small ship. By Week 8 you've built 7 to 8 agents in your portfolio.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2 hours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cover, in roughly this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course orientation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check, 8-week arc, how we'll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560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model recap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ideas from the pre-read that drive everything else.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build: from raw API to structured outputs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call → string classifier → Pydantic schema.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in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after: same task, different context.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349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49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+ wrap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01168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between now and Session 2.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read the 9 ideas. 4 are doing the heavy lifting.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recap, then we add the production layer on top.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Prediction, not lookup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continues. It doesn't retrieve.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 is the only world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desk. Control what lands.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11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truth-checker inside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the machine working as built.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7373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011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923544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= predictor + tools + loop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5440" y="4069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mind. Just the loop, run many times.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numbers reference the Panaversity 'What AI Actually Is' crash course.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It predicts. It doesn't look up.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a continuation, not a retrieval.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+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2231136"/>
            <a:ext cx="146304" cy="182880"/>
          </a:xfrm>
          <a:prstGeom prst="downArrow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6888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 predict next piece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3054096"/>
            <a:ext cx="146304" cy="182880"/>
          </a:xfrm>
          <a:prstGeom prst="downArrow">
            <a:avLst/>
          </a:prstGeom>
          <a:solidFill>
            <a:srgbClr val="B8504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29184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chosen, added to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1408" y="3877056"/>
            <a:ext cx="146304" cy="182880"/>
          </a:xfrm>
          <a:prstGeom prst="downArrow">
            <a:avLst/>
          </a:prstGeom>
          <a:solidFill>
            <a:srgbClr val="B8504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1480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piece feeds back 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4389120"/>
            <a:ext cx="457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920240"/>
            <a:ext cx="0" cy="274320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828800"/>
            <a:ext cx="182880" cy="182880"/>
          </a:xfrm>
          <a:prstGeom prst="leftArrow">
            <a:avLst/>
          </a:prstGeom>
          <a:solidFill>
            <a:srgbClr val="B85042"/>
          </a:solidFill>
          <a:ln/>
        </p:spPr>
      </p:sp>
      <p:sp>
        <p:nvSpPr>
          <p:cNvPr id="19" name="Shape 17"/>
          <p:cNvSpPr/>
          <p:nvPr/>
        </p:nvSpPr>
        <p:spPr>
          <a:xfrm>
            <a:off x="3749040" y="1920240"/>
            <a:ext cx="457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by piece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is ever opened. It predicts the most plausible next piece, then does it again.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554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practitioner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2057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when you ship: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251460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facts of its own. Only what you put in front of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build a domain expert agent, RAG isn't optional. It's the only way to ground its predictions.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output is not evidence of truth. Hallucination is the machine working as built (Idea 3).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two different answers? Temperature sampling. Not the model 'changing its mind.'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The context window is the reading desk.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 on the desk, the model uses. Whatever is off it, doesn't exist.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5544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783080"/>
            <a:ext cx="457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" y="21488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377440"/>
            <a:ext cx="457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7432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971800"/>
            <a:ext cx="457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" y="33375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results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3566160"/>
            <a:ext cx="457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4160520"/>
            <a:ext cx="457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" y="45262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26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4754880"/>
            <a:ext cx="4572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17520" y="1554480"/>
            <a:ext cx="2103120" cy="3429000"/>
          </a:xfrm>
          <a:prstGeom prst="roundRect">
            <a:avLst>
              <a:gd name="adj" fmla="val 4348"/>
            </a:avLst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1554480"/>
            <a:ext cx="2103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576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sees about your specific situation. Nothing else exists for this call.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practitioner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= the real game.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27889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the work on a real agent is what goes on the desk and what stays off.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easy part. Context engineering is the engineering.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has a size limit (in tokens). Overstuff it and signal drops.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context loading (load what you need, when you need it) is a Week 4 topic.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It generates. Nothing inside checks if it's true.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the machine working as built, not a glitch.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2860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answer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3200400"/>
            <a:ext cx="228600" cy="548640"/>
          </a:xfrm>
          <a:prstGeom prst="upDownArrow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can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38404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"am I sure?"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faculties.  One can catch the other.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286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continuation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38404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12064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checks if it's true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faculty.  Nothing catches a wrong guess.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73736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1A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 LAYER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0" y="2331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agents don't hallucinate less by accident.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3657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hallucinate less because of: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(Week 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Structured outputs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Guardrails (Week 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Evals (Week 7)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Tools + loop = agent.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kind of mind. The same predictor in a tool-using loop.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runs it for real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4114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lands in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2286000"/>
            <a:ext cx="237744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5212080" y="2743200"/>
            <a:ext cx="2286000" cy="137160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2926080" y="2743200"/>
            <a:ext cx="1188720" cy="182880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371600" y="5394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this loop, run many times. The model never stops being a next-token predictor.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5097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in this course is some version of this loop.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0" y="33832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Week 2: single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Week 5: orchestrator + sub-agents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Week 6: MCP-provided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Week 8: multi-tenant agent in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is the easy part.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engineering.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lens we use for the next 8 weeks. Every architectural decision we make is about what goes on the desk, what stays off, when, and why.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most courses never teach you, and what makes the difference between a demo and a product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what I actually build with.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Agents SDK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loop, tool calling, orchestration patterns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069848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web framework, Pydantic-native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1069848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RAG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with vector search built 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1069848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4297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+ auth + storage, fast to ship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1069848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BUILD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166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dev environment, day 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(LangChain, LangGraph, CrewAI, AutoGen, frontend frameworks) is out of scope for this course.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from raw API to structured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each one teaches a different thing.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64592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API 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bare-bones OpenAI completion. No system prompt, no examples, just text in and text 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4846320"/>
            <a:ext cx="310896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 of one call.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classifier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with a system prompt. Returns 'positive', 'negative', or 'neutral'. Then we break it with sarcasm.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4846320"/>
            <a:ext cx="310896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shape behaviour. Strings are fragile.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164592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45820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with Pydantic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now returning a typed object with sentiment, confidence, and reasoning. Validated automatically.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58200" y="4846320"/>
            <a:ext cx="3108960" cy="0"/>
          </a:xfrm>
          <a:prstGeom prst="line">
            <a:avLst/>
          </a:prstGeom>
          <a:noFill/>
          <a:ln w="6350">
            <a:solidFill>
              <a:srgbClr val="D9D2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5820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production agents always use schemas.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code, side by side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task. Each version adds one thing.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Plain call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3749040" cy="370332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6350">
            <a:solidFill>
              <a:srgbClr val="D9D2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4028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"user",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"Hello"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print(response.choices[0].message.content)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String classifier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2148840"/>
            <a:ext cx="3749040" cy="370332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6350">
            <a:solidFill>
              <a:srgbClr val="D9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24028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"""You classify customer messages.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one word: positive,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negative, or neutral."""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classify(text: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client.chat.completions.create(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{"role":"system","content":SYSTEM},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{"role":"user","content":text}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r.choices[0].message.content.strip()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3816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Structured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749040" cy="370332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6350">
            <a:solidFill>
              <a:srgbClr val="D9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4028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SentimentResult(BaseModel):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sentiment: Literal[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"positive","negative","neutral"]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= Field(ge=0, le=1)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reasoning: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classify(text: str) -&gt; SentimentResult: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client.beta.chat.completions.parse(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messages=[...],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response_format=SentimentResult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r.choices[0].message.parsed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progression: each version preserves what came before and adds one constraint.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week's mini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real with structured outputs.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6858000" cy="4572000"/>
          </a:xfrm>
          <a:prstGeom prst="roundRect">
            <a:avLst>
              <a:gd name="adj" fmla="val 2000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extractor on a domain you care about.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(or your own):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29184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triage: extract intent, urgency, action required, suggested reply.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 parser: extract brand, model, attributes, price.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classifier: category, severity, suggested next step.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parser: extract skills, experience, education, contact info.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10 to 20 real or realistic inputs. Note 3 failures.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1A29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finish early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92608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confidence threshold. Anything below 0.6 returns 'uncertain'.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few-shot examples to the system prompt. Measure quality change.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E8C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task on gpt-4o-mini vs gpt-4o. Note differences.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567160" y="4114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4114800"/>
          </a:xfrm>
          <a:prstGeom prst="roundRect">
            <a:avLst>
              <a:gd name="adj" fmla="val 2222"/>
            </a:avLst>
          </a:prstGeom>
          <a:solidFill>
            <a:srgbClr val="F7F5F1"/>
          </a:solidFill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Real Agent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classifier becomes an agent. We add tools. We expose it via FastAPI. We make it act in the world, not just describe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from zero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+ when to split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exposed as a FastAPI 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now and then: mini project. Stuck? WhatsApp 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Mentorship · Session 1 · Hashir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Mentorship: Session 1</dc:title>
  <dc:subject>PptxGenJS Presentation</dc:subject>
  <dc:creator>Hashir</dc:creator>
  <cp:lastModifiedBy>Hashir</cp:lastModifiedBy>
  <cp:revision>1</cp:revision>
  <dcterms:created xsi:type="dcterms:W3CDTF">2026-06-23T05:09:00Z</dcterms:created>
  <dcterms:modified xsi:type="dcterms:W3CDTF">2026-06-23T05:09:00Z</dcterms:modified>
</cp:coreProperties>
</file>