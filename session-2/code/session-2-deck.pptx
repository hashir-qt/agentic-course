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6944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'Last session you built a classifier. Today it becomes an agent.' Check: did he do the mini project? Open it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agenda walk. Don't linger.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reframe: in an API call, YOU decide what happens. In an agent, the MODEL decides which tools to call, in what order, how many times. You define the rules and the tools. It makes the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rush this. Let him read each one. Ask: 'Which of these did you already use in Session 1 without knowing it?' (Answer: none. Session 1 was raw API calls.)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him type this. Run it. Then ask: 'This is functionally the same as what you built in Session 1. What makes it an agent?' Answer: nothing yet. It becomes an agent when we add tools.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him type this. Run it. Then walk through the 5 steps on the right. Ask: 'How many API calls just happened?' (Answer: 2. One to decide tool call, one to generate final response after getting the tool result.)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running: ask 'How many tool calls did it make? Did it call both or just one?' Then try: 'Save a note that London is cloudy today.' Watch save_note fire.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Let him see the trace. Ask: 'If get_weather returned garbage, how would you find that in the trace?'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him this but don't necessarily run it live unless he has a Gemini API key. The point is: the SDK is provider-agnostic. He should know how to swap.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Session 1. He already knows Pydantic schemas for structured output. Now he sees the same pattern at agent level. temperature=0 for production agents where you need consistency.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he knows what done looks like. The JSON file persistence is key: this is the first time he writes an agent that has real side effects. Tell him to ping you on WhatsApp when stuck.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Confirm next session time. The mini project this week is the most important one so far because it's the first real agent with real side effects.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942"/>
        </a:solidFill>
        <a:effectLst/>
      </p:bgPr>
    </p:bg>
    <p:spTree>
      <p:nvGrpSpPr>
        <p:cNvPr id="1" name=""/>
        <p:cNvGrpSpPr/>
        <p:nvPr/>
      </p:nvGrpSpPr>
      <p:grpSpPr>
        <a:xfrm>
          <a:off x="0" y="0"/>
          <a:ext cx="0" cy="0"/>
          <a:chOff x="0" y="0"/>
          <a:chExt cx="0" cy="0"/>
        </a:xfrm>
      </p:grpSpPr>
      <p:sp>
        <p:nvSpPr>
          <p:cNvPr id="2" name="Shape 0"/>
          <p:cNvSpPr/>
          <p:nvPr/>
        </p:nvSpPr>
        <p:spPr>
          <a:xfrm>
            <a:off x="548640" y="640080"/>
            <a:ext cx="228600" cy="228600"/>
          </a:xfrm>
          <a:prstGeom prst="ellipse">
            <a:avLst/>
          </a:prstGeom>
          <a:solidFill>
            <a:srgbClr val="B85042"/>
          </a:solidFill>
          <a:ln/>
        </p:spPr>
      </p:sp>
      <p:sp>
        <p:nvSpPr>
          <p:cNvPr id="3" name="Text 1"/>
          <p:cNvSpPr/>
          <p:nvPr/>
        </p:nvSpPr>
        <p:spPr>
          <a:xfrm>
            <a:off x="548640" y="1005840"/>
            <a:ext cx="10972800" cy="457200"/>
          </a:xfrm>
          <a:prstGeom prst="rect">
            <a:avLst/>
          </a:prstGeom>
          <a:noFill/>
          <a:ln/>
        </p:spPr>
        <p:txBody>
          <a:bodyPr wrap="square" lIns="0" tIns="0" rIns="0" bIns="0" rtlCol="0" anchor="ctr"/>
          <a:lstStyle/>
          <a:p>
            <a:pPr marL="0" indent="0">
              <a:buNone/>
            </a:pPr>
            <a:r>
              <a:rPr lang="en-US" sz="1400" b="1" kern="0" spc="800" dirty="0">
                <a:solidFill>
                  <a:srgbClr val="E8C5BB"/>
                </a:solidFill>
                <a:latin typeface="Calibri" pitchFamily="34" charset="0"/>
                <a:ea typeface="Calibri" pitchFamily="34" charset="-122"/>
                <a:cs typeface="Calibri" pitchFamily="34" charset="-120"/>
              </a:rPr>
              <a:t>AGENTIC AI MENTORSHIP</a:t>
            </a:r>
            <a:endParaRPr lang="en-US" sz="1400" dirty="0"/>
          </a:p>
        </p:txBody>
      </p:sp>
      <p:sp>
        <p:nvSpPr>
          <p:cNvPr id="4" name="Text 2"/>
          <p:cNvSpPr/>
          <p:nvPr/>
        </p:nvSpPr>
        <p:spPr>
          <a:xfrm>
            <a:off x="548640" y="1691640"/>
            <a:ext cx="10972800" cy="1097280"/>
          </a:xfrm>
          <a:prstGeom prst="rect">
            <a:avLst/>
          </a:prstGeom>
          <a:noFill/>
          <a:ln/>
        </p:spPr>
        <p:txBody>
          <a:bodyPr wrap="square" lIns="0" tIns="0" rIns="0" bIns="0"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Session 2</a:t>
            </a:r>
            <a:endParaRPr lang="en-US" sz="7200" dirty="0"/>
          </a:p>
        </p:txBody>
      </p:sp>
      <p:sp>
        <p:nvSpPr>
          <p:cNvPr id="5" name="Text 3"/>
          <p:cNvSpPr/>
          <p:nvPr/>
        </p:nvSpPr>
        <p:spPr>
          <a:xfrm>
            <a:off x="548640" y="2834640"/>
            <a:ext cx="10972800" cy="640080"/>
          </a:xfrm>
          <a:prstGeom prst="rect">
            <a:avLst/>
          </a:prstGeom>
          <a:noFill/>
          <a:ln/>
        </p:spPr>
        <p:txBody>
          <a:bodyPr wrap="square" lIns="0" tIns="0" rIns="0" bIns="0" rtlCol="0" anchor="ctr"/>
          <a:lstStyle/>
          <a:p>
            <a:pPr marL="0" indent="0">
              <a:buNone/>
            </a:pPr>
            <a:r>
              <a:rPr lang="en-US" sz="3200" i="1" dirty="0">
                <a:solidFill>
                  <a:srgbClr val="E8C5BB"/>
                </a:solidFill>
                <a:latin typeface="Cambria" pitchFamily="34" charset="0"/>
                <a:ea typeface="Cambria" pitchFamily="34" charset="-122"/>
                <a:cs typeface="Cambria" pitchFamily="34" charset="-120"/>
              </a:rPr>
              <a:t>Your First Agent</a:t>
            </a:r>
            <a:endParaRPr lang="en-US" sz="3200" dirty="0"/>
          </a:p>
        </p:txBody>
      </p:sp>
      <p:sp>
        <p:nvSpPr>
          <p:cNvPr id="6" name="Shape 4"/>
          <p:cNvSpPr/>
          <p:nvPr/>
        </p:nvSpPr>
        <p:spPr>
          <a:xfrm>
            <a:off x="548640" y="5120640"/>
            <a:ext cx="73152" cy="73152"/>
          </a:xfrm>
          <a:prstGeom prst="ellipse">
            <a:avLst/>
          </a:prstGeom>
          <a:solidFill>
            <a:srgbClr val="A7BEAE"/>
          </a:solidFill>
          <a:ln/>
        </p:spPr>
      </p:sp>
      <p:sp>
        <p:nvSpPr>
          <p:cNvPr id="7" name="Shape 5"/>
          <p:cNvSpPr/>
          <p:nvPr/>
        </p:nvSpPr>
        <p:spPr>
          <a:xfrm>
            <a:off x="777240" y="5120640"/>
            <a:ext cx="73152" cy="73152"/>
          </a:xfrm>
          <a:prstGeom prst="ellipse">
            <a:avLst/>
          </a:prstGeom>
          <a:solidFill>
            <a:srgbClr val="A7BEAE"/>
          </a:solidFill>
          <a:ln/>
        </p:spPr>
      </p:sp>
      <p:sp>
        <p:nvSpPr>
          <p:cNvPr id="8" name="Shape 6"/>
          <p:cNvSpPr/>
          <p:nvPr/>
        </p:nvSpPr>
        <p:spPr>
          <a:xfrm>
            <a:off x="1005840" y="5120640"/>
            <a:ext cx="73152" cy="73152"/>
          </a:xfrm>
          <a:prstGeom prst="ellipse">
            <a:avLst/>
          </a:prstGeom>
          <a:solidFill>
            <a:srgbClr val="A7BEAE"/>
          </a:solidFill>
          <a:ln/>
        </p:spPr>
      </p:sp>
      <p:sp>
        <p:nvSpPr>
          <p:cNvPr id="9" name="Text 7"/>
          <p:cNvSpPr/>
          <p:nvPr/>
        </p:nvSpPr>
        <p:spPr>
          <a:xfrm>
            <a:off x="548640" y="5349240"/>
            <a:ext cx="109728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HASHIR</a:t>
            </a:r>
            <a:r>
              <a:rPr lang="en-US" sz="1600" dirty="0">
                <a:solidFill>
                  <a:srgbClr val="E8C5BB"/>
                </a:solidFill>
                <a:latin typeface="Calibri" pitchFamily="34" charset="0"/>
                <a:ea typeface="Calibri" pitchFamily="34" charset="-122"/>
                <a:cs typeface="Calibri" pitchFamily="34" charset="-120"/>
              </a:rPr>
              <a:t>  ·  Lead AI Engineer  ·  Week 2 of 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Today's 2 hours</a:t>
            </a:r>
            <a:endParaRPr lang="en-US" sz="2800" dirty="0"/>
          </a:p>
        </p:txBody>
      </p:sp>
      <p:sp>
        <p:nvSpPr>
          <p:cNvPr id="3" name="Shape 1"/>
          <p:cNvSpPr/>
          <p:nvPr/>
        </p:nvSpPr>
        <p:spPr>
          <a:xfrm>
            <a:off x="11567160" y="411480"/>
            <a:ext cx="164592" cy="164592"/>
          </a:xfrm>
          <a:prstGeom prst="ellipse">
            <a:avLst/>
          </a:prstGeom>
          <a:solidFill>
            <a:srgbClr val="B85042"/>
          </a:solidFill>
          <a:ln/>
        </p:spPr>
      </p:sp>
      <p:sp>
        <p:nvSpPr>
          <p:cNvPr id="4" name="Shape 2"/>
          <p:cNvSpPr/>
          <p:nvPr/>
        </p:nvSpPr>
        <p:spPr>
          <a:xfrm>
            <a:off x="457200" y="1444752"/>
            <a:ext cx="822960" cy="411480"/>
          </a:xfrm>
          <a:prstGeom prst="roundRect">
            <a:avLst>
              <a:gd name="adj" fmla="val 48889"/>
            </a:avLst>
          </a:prstGeom>
          <a:solidFill>
            <a:srgbClr val="B85042"/>
          </a:solidFill>
          <a:ln/>
        </p:spPr>
      </p:sp>
      <p:sp>
        <p:nvSpPr>
          <p:cNvPr id="5" name="Text 3"/>
          <p:cNvSpPr/>
          <p:nvPr/>
        </p:nvSpPr>
        <p:spPr>
          <a:xfrm>
            <a:off x="457200" y="1444752"/>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0:00</a:t>
            </a:r>
            <a:endParaRPr lang="en-US" sz="1300" dirty="0"/>
          </a:p>
        </p:txBody>
      </p:sp>
      <p:sp>
        <p:nvSpPr>
          <p:cNvPr id="6" name="Text 4"/>
          <p:cNvSpPr/>
          <p:nvPr/>
        </p:nvSpPr>
        <p:spPr>
          <a:xfrm>
            <a:off x="1554480" y="1371600"/>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Session 1 review</a:t>
            </a:r>
            <a:endParaRPr lang="en-US" sz="1600" dirty="0"/>
          </a:p>
        </p:txBody>
      </p:sp>
      <p:sp>
        <p:nvSpPr>
          <p:cNvPr id="7" name="Text 5"/>
          <p:cNvSpPr/>
          <p:nvPr/>
        </p:nvSpPr>
        <p:spPr>
          <a:xfrm>
            <a:off x="1554480" y="1673352"/>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Walk through your mini project. What worked, what broke.</a:t>
            </a:r>
            <a:endParaRPr lang="en-US" sz="1100" dirty="0"/>
          </a:p>
        </p:txBody>
      </p:sp>
      <p:sp>
        <p:nvSpPr>
          <p:cNvPr id="8" name="Shape 6"/>
          <p:cNvSpPr/>
          <p:nvPr/>
        </p:nvSpPr>
        <p:spPr>
          <a:xfrm>
            <a:off x="457200" y="2103120"/>
            <a:ext cx="822960" cy="411480"/>
          </a:xfrm>
          <a:prstGeom prst="roundRect">
            <a:avLst>
              <a:gd name="adj" fmla="val 48889"/>
            </a:avLst>
          </a:prstGeom>
          <a:solidFill>
            <a:srgbClr val="B85042"/>
          </a:solidFill>
          <a:ln/>
        </p:spPr>
      </p:sp>
      <p:sp>
        <p:nvSpPr>
          <p:cNvPr id="9" name="Text 7"/>
          <p:cNvSpPr/>
          <p:nvPr/>
        </p:nvSpPr>
        <p:spPr>
          <a:xfrm>
            <a:off x="457200" y="2103120"/>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0:15</a:t>
            </a:r>
            <a:endParaRPr lang="en-US" sz="1300" dirty="0"/>
          </a:p>
        </p:txBody>
      </p:sp>
      <p:sp>
        <p:nvSpPr>
          <p:cNvPr id="10" name="Text 8"/>
          <p:cNvSpPr/>
          <p:nvPr/>
        </p:nvSpPr>
        <p:spPr>
          <a:xfrm>
            <a:off x="1554480" y="2029968"/>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API call vs agent loop</a:t>
            </a:r>
            <a:endParaRPr lang="en-US" sz="1600" dirty="0"/>
          </a:p>
        </p:txBody>
      </p:sp>
      <p:sp>
        <p:nvSpPr>
          <p:cNvPr id="11" name="Text 9"/>
          <p:cNvSpPr/>
          <p:nvPr/>
        </p:nvSpPr>
        <p:spPr>
          <a:xfrm>
            <a:off x="1554480" y="2331720"/>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mental model shift. Why an agent is more than a prompt.</a:t>
            </a:r>
            <a:endParaRPr lang="en-US" sz="1100" dirty="0"/>
          </a:p>
        </p:txBody>
      </p:sp>
      <p:sp>
        <p:nvSpPr>
          <p:cNvPr id="12" name="Shape 10"/>
          <p:cNvSpPr/>
          <p:nvPr/>
        </p:nvSpPr>
        <p:spPr>
          <a:xfrm>
            <a:off x="457200" y="2761488"/>
            <a:ext cx="822960" cy="411480"/>
          </a:xfrm>
          <a:prstGeom prst="roundRect">
            <a:avLst>
              <a:gd name="adj" fmla="val 48889"/>
            </a:avLst>
          </a:prstGeom>
          <a:solidFill>
            <a:srgbClr val="B85042"/>
          </a:solidFill>
          <a:ln/>
        </p:spPr>
      </p:sp>
      <p:sp>
        <p:nvSpPr>
          <p:cNvPr id="13" name="Text 11"/>
          <p:cNvSpPr/>
          <p:nvPr/>
        </p:nvSpPr>
        <p:spPr>
          <a:xfrm>
            <a:off x="457200" y="2761488"/>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0:35</a:t>
            </a:r>
            <a:endParaRPr lang="en-US" sz="1300" dirty="0"/>
          </a:p>
        </p:txBody>
      </p:sp>
      <p:sp>
        <p:nvSpPr>
          <p:cNvPr id="14" name="Text 12"/>
          <p:cNvSpPr/>
          <p:nvPr/>
        </p:nvSpPr>
        <p:spPr>
          <a:xfrm>
            <a:off x="1554480" y="2688336"/>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First agent, no tools</a:t>
            </a:r>
            <a:endParaRPr lang="en-US" sz="1600" dirty="0"/>
          </a:p>
        </p:txBody>
      </p:sp>
      <p:sp>
        <p:nvSpPr>
          <p:cNvPr id="15" name="Text 13"/>
          <p:cNvSpPr/>
          <p:nvPr/>
        </p:nvSpPr>
        <p:spPr>
          <a:xfrm>
            <a:off x="1554480" y="2990088"/>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Agent, Runner, RunResult. The bare minimum.</a:t>
            </a:r>
            <a:endParaRPr lang="en-US" sz="1100" dirty="0"/>
          </a:p>
        </p:txBody>
      </p:sp>
      <p:sp>
        <p:nvSpPr>
          <p:cNvPr id="16" name="Shape 14"/>
          <p:cNvSpPr/>
          <p:nvPr/>
        </p:nvSpPr>
        <p:spPr>
          <a:xfrm>
            <a:off x="457200" y="3419856"/>
            <a:ext cx="822960" cy="411480"/>
          </a:xfrm>
          <a:prstGeom prst="roundRect">
            <a:avLst>
              <a:gd name="adj" fmla="val 48889"/>
            </a:avLst>
          </a:prstGeom>
          <a:solidFill>
            <a:srgbClr val="B85042"/>
          </a:solidFill>
          <a:ln/>
        </p:spPr>
      </p:sp>
      <p:sp>
        <p:nvSpPr>
          <p:cNvPr id="17" name="Text 15"/>
          <p:cNvSpPr/>
          <p:nvPr/>
        </p:nvSpPr>
        <p:spPr>
          <a:xfrm>
            <a:off x="457200" y="3419856"/>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0:45</a:t>
            </a:r>
            <a:endParaRPr lang="en-US" sz="1300" dirty="0"/>
          </a:p>
        </p:txBody>
      </p:sp>
      <p:sp>
        <p:nvSpPr>
          <p:cNvPr id="18" name="Text 16"/>
          <p:cNvSpPr/>
          <p:nvPr/>
        </p:nvSpPr>
        <p:spPr>
          <a:xfrm>
            <a:off x="1554480" y="3346704"/>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Adding tools</a:t>
            </a:r>
            <a:endParaRPr lang="en-US" sz="1600" dirty="0"/>
          </a:p>
        </p:txBody>
      </p:sp>
      <p:sp>
        <p:nvSpPr>
          <p:cNvPr id="19" name="Text 17"/>
          <p:cNvSpPr/>
          <p:nvPr/>
        </p:nvSpPr>
        <p:spPr>
          <a:xfrm>
            <a:off x="1554480" y="3648456"/>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function_tool, single tool, multiple tools, parallel calls.</a:t>
            </a:r>
            <a:endParaRPr lang="en-US" sz="1100" dirty="0"/>
          </a:p>
        </p:txBody>
      </p:sp>
      <p:sp>
        <p:nvSpPr>
          <p:cNvPr id="20" name="Shape 18"/>
          <p:cNvSpPr/>
          <p:nvPr/>
        </p:nvSpPr>
        <p:spPr>
          <a:xfrm>
            <a:off x="457200" y="4078224"/>
            <a:ext cx="822960" cy="411480"/>
          </a:xfrm>
          <a:prstGeom prst="roundRect">
            <a:avLst>
              <a:gd name="adj" fmla="val 48889"/>
            </a:avLst>
          </a:prstGeom>
          <a:solidFill>
            <a:srgbClr val="B85042"/>
          </a:solidFill>
          <a:ln/>
        </p:spPr>
      </p:sp>
      <p:sp>
        <p:nvSpPr>
          <p:cNvPr id="21" name="Text 19"/>
          <p:cNvSpPr/>
          <p:nvPr/>
        </p:nvSpPr>
        <p:spPr>
          <a:xfrm>
            <a:off x="457200" y="4078224"/>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1:10</a:t>
            </a:r>
            <a:endParaRPr lang="en-US" sz="1300" dirty="0"/>
          </a:p>
        </p:txBody>
      </p:sp>
      <p:sp>
        <p:nvSpPr>
          <p:cNvPr id="22" name="Text 20"/>
          <p:cNvSpPr/>
          <p:nvPr/>
        </p:nvSpPr>
        <p:spPr>
          <a:xfrm>
            <a:off x="1554480" y="4005072"/>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Inspecting the loop</a:t>
            </a:r>
            <a:endParaRPr lang="en-US" sz="1600" dirty="0"/>
          </a:p>
        </p:txBody>
      </p:sp>
      <p:sp>
        <p:nvSpPr>
          <p:cNvPr id="23" name="Text 21"/>
          <p:cNvSpPr/>
          <p:nvPr/>
        </p:nvSpPr>
        <p:spPr>
          <a:xfrm>
            <a:off x="1554480" y="4306824"/>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What happens inside a run. new_items, debugging.</a:t>
            </a:r>
            <a:endParaRPr lang="en-US" sz="1100" dirty="0"/>
          </a:p>
        </p:txBody>
      </p:sp>
      <p:sp>
        <p:nvSpPr>
          <p:cNvPr id="24" name="Shape 22"/>
          <p:cNvSpPr/>
          <p:nvPr/>
        </p:nvSpPr>
        <p:spPr>
          <a:xfrm>
            <a:off x="457200" y="4736592"/>
            <a:ext cx="822960" cy="411480"/>
          </a:xfrm>
          <a:prstGeom prst="roundRect">
            <a:avLst>
              <a:gd name="adj" fmla="val 48889"/>
            </a:avLst>
          </a:prstGeom>
          <a:solidFill>
            <a:srgbClr val="B85042"/>
          </a:solidFill>
          <a:ln/>
        </p:spPr>
      </p:sp>
      <p:sp>
        <p:nvSpPr>
          <p:cNvPr id="25" name="Text 23"/>
          <p:cNvSpPr/>
          <p:nvPr/>
        </p:nvSpPr>
        <p:spPr>
          <a:xfrm>
            <a:off x="457200" y="4736592"/>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1:20</a:t>
            </a:r>
            <a:endParaRPr lang="en-US" sz="1300" dirty="0"/>
          </a:p>
        </p:txBody>
      </p:sp>
      <p:sp>
        <p:nvSpPr>
          <p:cNvPr id="26" name="Text 24"/>
          <p:cNvSpPr/>
          <p:nvPr/>
        </p:nvSpPr>
        <p:spPr>
          <a:xfrm>
            <a:off x="1554480" y="4663440"/>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Multi-turn conversations</a:t>
            </a:r>
            <a:endParaRPr lang="en-US" sz="1600" dirty="0"/>
          </a:p>
        </p:txBody>
      </p:sp>
      <p:sp>
        <p:nvSpPr>
          <p:cNvPr id="27" name="Text 25"/>
          <p:cNvSpPr/>
          <p:nvPr/>
        </p:nvSpPr>
        <p:spPr>
          <a:xfrm>
            <a:off x="1554480" y="4965192"/>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to_input_list(), carrying state across turns.</a:t>
            </a:r>
            <a:endParaRPr lang="en-US" sz="1100" dirty="0"/>
          </a:p>
        </p:txBody>
      </p:sp>
      <p:sp>
        <p:nvSpPr>
          <p:cNvPr id="28" name="Shape 26"/>
          <p:cNvSpPr/>
          <p:nvPr/>
        </p:nvSpPr>
        <p:spPr>
          <a:xfrm>
            <a:off x="457200" y="5394960"/>
            <a:ext cx="822960" cy="411480"/>
          </a:xfrm>
          <a:prstGeom prst="roundRect">
            <a:avLst>
              <a:gd name="adj" fmla="val 48889"/>
            </a:avLst>
          </a:prstGeom>
          <a:solidFill>
            <a:srgbClr val="B85042"/>
          </a:solidFill>
          <a:ln/>
        </p:spPr>
      </p:sp>
      <p:sp>
        <p:nvSpPr>
          <p:cNvPr id="29" name="Text 27"/>
          <p:cNvSpPr/>
          <p:nvPr/>
        </p:nvSpPr>
        <p:spPr>
          <a:xfrm>
            <a:off x="457200" y="5394960"/>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1:30</a:t>
            </a:r>
            <a:endParaRPr lang="en-US" sz="1300" dirty="0"/>
          </a:p>
        </p:txBody>
      </p:sp>
      <p:sp>
        <p:nvSpPr>
          <p:cNvPr id="30" name="Text 28"/>
          <p:cNvSpPr/>
          <p:nvPr/>
        </p:nvSpPr>
        <p:spPr>
          <a:xfrm>
            <a:off x="1554480" y="5321808"/>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Other models + configuration</a:t>
            </a:r>
            <a:endParaRPr lang="en-US" sz="1600" dirty="0"/>
          </a:p>
        </p:txBody>
      </p:sp>
      <p:sp>
        <p:nvSpPr>
          <p:cNvPr id="31" name="Text 29"/>
          <p:cNvSpPr/>
          <p:nvPr/>
        </p:nvSpPr>
        <p:spPr>
          <a:xfrm>
            <a:off x="1554480" y="5623560"/>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Gemini via OpenAIChatCompletionsModel. ModelSettings. output_type.</a:t>
            </a:r>
            <a:endParaRPr lang="en-US" sz="1100" dirty="0"/>
          </a:p>
        </p:txBody>
      </p:sp>
      <p:sp>
        <p:nvSpPr>
          <p:cNvPr id="32" name="Shape 30"/>
          <p:cNvSpPr/>
          <p:nvPr/>
        </p:nvSpPr>
        <p:spPr>
          <a:xfrm>
            <a:off x="457200" y="6053328"/>
            <a:ext cx="822960" cy="411480"/>
          </a:xfrm>
          <a:prstGeom prst="roundRect">
            <a:avLst>
              <a:gd name="adj" fmla="val 48889"/>
            </a:avLst>
          </a:prstGeom>
          <a:solidFill>
            <a:srgbClr val="B85042"/>
          </a:solidFill>
          <a:ln/>
        </p:spPr>
      </p:sp>
      <p:sp>
        <p:nvSpPr>
          <p:cNvPr id="33" name="Text 31"/>
          <p:cNvSpPr/>
          <p:nvPr/>
        </p:nvSpPr>
        <p:spPr>
          <a:xfrm>
            <a:off x="457200" y="6053328"/>
            <a:ext cx="8229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1:50</a:t>
            </a:r>
            <a:endParaRPr lang="en-US" sz="1300" dirty="0"/>
          </a:p>
        </p:txBody>
      </p:sp>
      <p:sp>
        <p:nvSpPr>
          <p:cNvPr id="34" name="Text 32"/>
          <p:cNvSpPr/>
          <p:nvPr/>
        </p:nvSpPr>
        <p:spPr>
          <a:xfrm>
            <a:off x="1554480" y="5980176"/>
            <a:ext cx="4572000" cy="320040"/>
          </a:xfrm>
          <a:prstGeom prst="rect">
            <a:avLst/>
          </a:prstGeom>
          <a:noFill/>
          <a:ln/>
        </p:spPr>
        <p:txBody>
          <a:bodyPr wrap="square" lIns="0" tIns="0" rIns="0" bIns="0" rtlCol="0" anchor="ctr"/>
          <a:lstStyle/>
          <a:p>
            <a:pPr marL="0" indent="0">
              <a:buNone/>
            </a:pPr>
            <a:r>
              <a:rPr lang="en-US" sz="1600" b="1" dirty="0">
                <a:solidFill>
                  <a:srgbClr val="1F2937"/>
                </a:solidFill>
                <a:latin typeface="Cambria" pitchFamily="34" charset="0"/>
                <a:ea typeface="Cambria" pitchFamily="34" charset="-122"/>
                <a:cs typeface="Cambria" pitchFamily="34" charset="-120"/>
              </a:rPr>
              <a:t>Mini project + wrap</a:t>
            </a:r>
            <a:endParaRPr lang="en-US" sz="1600" dirty="0"/>
          </a:p>
        </p:txBody>
      </p:sp>
      <p:sp>
        <p:nvSpPr>
          <p:cNvPr id="35" name="Text 33"/>
          <p:cNvSpPr/>
          <p:nvPr/>
        </p:nvSpPr>
        <p:spPr>
          <a:xfrm>
            <a:off x="1554480" y="6281928"/>
            <a:ext cx="100584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What you build before Session 3.</a:t>
            </a:r>
            <a:endParaRPr lang="en-US" sz="1100" dirty="0"/>
          </a:p>
        </p:txBody>
      </p:sp>
      <p:sp>
        <p:nvSpPr>
          <p:cNvPr id="36" name="Text 3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37" name="Text 3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The shift: API call vs agent</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Same model. Completely different architecture.</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457200" y="1554480"/>
            <a:ext cx="5029200" cy="320040"/>
          </a:xfrm>
          <a:prstGeom prst="rect">
            <a:avLst/>
          </a:prstGeom>
          <a:noFill/>
          <a:ln/>
        </p:spPr>
        <p:txBody>
          <a:bodyPr wrap="square" lIns="0" tIns="0" rIns="0" bIns="0" rtlCol="0" anchor="ctr"/>
          <a:lstStyle/>
          <a:p>
            <a:pPr marL="0" indent="0">
              <a:buNone/>
            </a:pPr>
            <a:r>
              <a:rPr lang="en-US" sz="1100" b="1" kern="0" spc="400" dirty="0">
                <a:solidFill>
                  <a:srgbClr val="64748B"/>
                </a:solidFill>
                <a:latin typeface="Calibri" pitchFamily="34" charset="0"/>
                <a:ea typeface="Calibri" pitchFamily="34" charset="-122"/>
                <a:cs typeface="Calibri" pitchFamily="34" charset="-120"/>
              </a:rPr>
              <a:t>LLM API CALL</a:t>
            </a:r>
            <a:endParaRPr lang="en-US" sz="1100" dirty="0"/>
          </a:p>
        </p:txBody>
      </p:sp>
      <p:sp>
        <p:nvSpPr>
          <p:cNvPr id="6" name="Shape 4"/>
          <p:cNvSpPr/>
          <p:nvPr/>
        </p:nvSpPr>
        <p:spPr>
          <a:xfrm>
            <a:off x="914400" y="2011680"/>
            <a:ext cx="3840480" cy="457200"/>
          </a:xfrm>
          <a:prstGeom prst="roundRect">
            <a:avLst>
              <a:gd name="adj" fmla="val 12000"/>
            </a:avLst>
          </a:prstGeom>
          <a:solidFill>
            <a:srgbClr val="F7F5F1"/>
          </a:solidFill>
          <a:ln w="12700">
            <a:solidFill>
              <a:srgbClr val="D9D2C5"/>
            </a:solidFill>
            <a:prstDash val="solid"/>
          </a:ln>
        </p:spPr>
      </p:sp>
      <p:sp>
        <p:nvSpPr>
          <p:cNvPr id="7" name="Text 5"/>
          <p:cNvSpPr/>
          <p:nvPr/>
        </p:nvSpPr>
        <p:spPr>
          <a:xfrm>
            <a:off x="914400" y="2011680"/>
            <a:ext cx="3840480" cy="457200"/>
          </a:xfrm>
          <a:prstGeom prst="rect">
            <a:avLst/>
          </a:prstGeom>
          <a:noFill/>
          <a:ln/>
        </p:spPr>
        <p:txBody>
          <a:bodyPr wrap="square" lIns="0" tIns="0" rIns="0" bIns="0"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Your input</a:t>
            </a:r>
            <a:endParaRPr lang="en-US" sz="1200" dirty="0"/>
          </a:p>
        </p:txBody>
      </p:sp>
      <p:sp>
        <p:nvSpPr>
          <p:cNvPr id="8" name="Shape 6"/>
          <p:cNvSpPr/>
          <p:nvPr/>
        </p:nvSpPr>
        <p:spPr>
          <a:xfrm>
            <a:off x="2697480" y="2514600"/>
            <a:ext cx="128016" cy="137160"/>
          </a:xfrm>
          <a:prstGeom prst="downArrow">
            <a:avLst/>
          </a:prstGeom>
          <a:solidFill>
            <a:srgbClr val="64748B"/>
          </a:solidFill>
          <a:ln/>
        </p:spPr>
      </p:sp>
      <p:sp>
        <p:nvSpPr>
          <p:cNvPr id="9" name="Shape 7"/>
          <p:cNvSpPr/>
          <p:nvPr/>
        </p:nvSpPr>
        <p:spPr>
          <a:xfrm>
            <a:off x="914400" y="2697480"/>
            <a:ext cx="3840480" cy="457200"/>
          </a:xfrm>
          <a:prstGeom prst="roundRect">
            <a:avLst>
              <a:gd name="adj" fmla="val 12000"/>
            </a:avLst>
          </a:prstGeom>
          <a:solidFill>
            <a:srgbClr val="F7F5F1"/>
          </a:solidFill>
          <a:ln w="12700">
            <a:solidFill>
              <a:srgbClr val="D9D2C5"/>
            </a:solidFill>
            <a:prstDash val="solid"/>
          </a:ln>
        </p:spPr>
      </p:sp>
      <p:sp>
        <p:nvSpPr>
          <p:cNvPr id="10" name="Text 8"/>
          <p:cNvSpPr/>
          <p:nvPr/>
        </p:nvSpPr>
        <p:spPr>
          <a:xfrm>
            <a:off x="914400" y="2697480"/>
            <a:ext cx="3840480" cy="457200"/>
          </a:xfrm>
          <a:prstGeom prst="rect">
            <a:avLst/>
          </a:prstGeom>
          <a:noFill/>
          <a:ln/>
        </p:spPr>
        <p:txBody>
          <a:bodyPr wrap="square" lIns="0" tIns="0" rIns="0" bIns="0"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Model generates text</a:t>
            </a:r>
            <a:endParaRPr lang="en-US" sz="1200" dirty="0"/>
          </a:p>
        </p:txBody>
      </p:sp>
      <p:sp>
        <p:nvSpPr>
          <p:cNvPr id="11" name="Shape 9"/>
          <p:cNvSpPr/>
          <p:nvPr/>
        </p:nvSpPr>
        <p:spPr>
          <a:xfrm>
            <a:off x="2697480" y="3200400"/>
            <a:ext cx="128016" cy="137160"/>
          </a:xfrm>
          <a:prstGeom prst="downArrow">
            <a:avLst/>
          </a:prstGeom>
          <a:solidFill>
            <a:srgbClr val="64748B"/>
          </a:solidFill>
          <a:ln/>
        </p:spPr>
      </p:sp>
      <p:sp>
        <p:nvSpPr>
          <p:cNvPr id="12" name="Shape 10"/>
          <p:cNvSpPr/>
          <p:nvPr/>
        </p:nvSpPr>
        <p:spPr>
          <a:xfrm>
            <a:off x="914400" y="3383280"/>
            <a:ext cx="3840480" cy="457200"/>
          </a:xfrm>
          <a:prstGeom prst="roundRect">
            <a:avLst>
              <a:gd name="adj" fmla="val 12000"/>
            </a:avLst>
          </a:prstGeom>
          <a:solidFill>
            <a:srgbClr val="F7F5F1"/>
          </a:solidFill>
          <a:ln w="12700">
            <a:solidFill>
              <a:srgbClr val="D9D2C5"/>
            </a:solidFill>
            <a:prstDash val="solid"/>
          </a:ln>
        </p:spPr>
      </p:sp>
      <p:sp>
        <p:nvSpPr>
          <p:cNvPr id="13" name="Text 11"/>
          <p:cNvSpPr/>
          <p:nvPr/>
        </p:nvSpPr>
        <p:spPr>
          <a:xfrm>
            <a:off x="914400" y="3383280"/>
            <a:ext cx="3840480" cy="457200"/>
          </a:xfrm>
          <a:prstGeom prst="rect">
            <a:avLst/>
          </a:prstGeom>
          <a:noFill/>
          <a:ln/>
        </p:spPr>
        <p:txBody>
          <a:bodyPr wrap="square" lIns="0" tIns="0" rIns="0" bIns="0"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Output returned</a:t>
            </a:r>
            <a:endParaRPr lang="en-US" sz="1200" dirty="0"/>
          </a:p>
        </p:txBody>
      </p:sp>
      <p:sp>
        <p:nvSpPr>
          <p:cNvPr id="14" name="Shape 12"/>
          <p:cNvSpPr/>
          <p:nvPr/>
        </p:nvSpPr>
        <p:spPr>
          <a:xfrm>
            <a:off x="2697480" y="3886200"/>
            <a:ext cx="128016" cy="137160"/>
          </a:xfrm>
          <a:prstGeom prst="downArrow">
            <a:avLst/>
          </a:prstGeom>
          <a:solidFill>
            <a:srgbClr val="64748B"/>
          </a:solidFill>
          <a:ln/>
        </p:spPr>
      </p:sp>
      <p:sp>
        <p:nvSpPr>
          <p:cNvPr id="15" name="Shape 13"/>
          <p:cNvSpPr/>
          <p:nvPr/>
        </p:nvSpPr>
        <p:spPr>
          <a:xfrm>
            <a:off x="914400" y="4069080"/>
            <a:ext cx="3840480" cy="457200"/>
          </a:xfrm>
          <a:prstGeom prst="roundRect">
            <a:avLst>
              <a:gd name="adj" fmla="val 12000"/>
            </a:avLst>
          </a:prstGeom>
          <a:solidFill>
            <a:srgbClr val="F7F5F1"/>
          </a:solidFill>
          <a:ln w="12700">
            <a:solidFill>
              <a:srgbClr val="D9D2C5"/>
            </a:solidFill>
            <a:prstDash val="solid"/>
          </a:ln>
        </p:spPr>
      </p:sp>
      <p:sp>
        <p:nvSpPr>
          <p:cNvPr id="16" name="Text 14"/>
          <p:cNvSpPr/>
          <p:nvPr/>
        </p:nvSpPr>
        <p:spPr>
          <a:xfrm>
            <a:off x="914400" y="4069080"/>
            <a:ext cx="3840480" cy="457200"/>
          </a:xfrm>
          <a:prstGeom prst="rect">
            <a:avLst/>
          </a:prstGeom>
          <a:noFill/>
          <a:ln/>
        </p:spPr>
        <p:txBody>
          <a:bodyPr wrap="square" lIns="0" tIns="0" rIns="0" bIns="0"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Done</a:t>
            </a:r>
            <a:endParaRPr lang="en-US" sz="1200" dirty="0"/>
          </a:p>
        </p:txBody>
      </p:sp>
      <p:sp>
        <p:nvSpPr>
          <p:cNvPr id="17" name="Text 15"/>
          <p:cNvSpPr/>
          <p:nvPr/>
        </p:nvSpPr>
        <p:spPr>
          <a:xfrm>
            <a:off x="457200" y="4937760"/>
            <a:ext cx="5029200" cy="36576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One shot. YOU decide the flow.</a:t>
            </a:r>
            <a:endParaRPr lang="en-US" sz="1200" dirty="0"/>
          </a:p>
        </p:txBody>
      </p:sp>
      <p:sp>
        <p:nvSpPr>
          <p:cNvPr id="18" name="Text 16"/>
          <p:cNvSpPr/>
          <p:nvPr/>
        </p:nvSpPr>
        <p:spPr>
          <a:xfrm>
            <a:off x="6400800" y="1554480"/>
            <a:ext cx="5029200" cy="320040"/>
          </a:xfrm>
          <a:prstGeom prst="rect">
            <a:avLst/>
          </a:prstGeom>
          <a:noFill/>
          <a:ln/>
        </p:spPr>
        <p:txBody>
          <a:bodyPr wrap="square" lIns="0" tIns="0" rIns="0" bIns="0" rtlCol="0" anchor="ctr"/>
          <a:lstStyle/>
          <a:p>
            <a:pPr marL="0" indent="0">
              <a:buNone/>
            </a:pPr>
            <a:r>
              <a:rPr lang="en-US" sz="1100" b="1" kern="0" spc="400" dirty="0">
                <a:solidFill>
                  <a:srgbClr val="B85042"/>
                </a:solidFill>
                <a:latin typeface="Calibri" pitchFamily="34" charset="0"/>
                <a:ea typeface="Calibri" pitchFamily="34" charset="-122"/>
                <a:cs typeface="Calibri" pitchFamily="34" charset="-120"/>
              </a:rPr>
              <a:t>AGENT</a:t>
            </a:r>
            <a:endParaRPr lang="en-US" sz="1100" dirty="0"/>
          </a:p>
        </p:txBody>
      </p:sp>
      <p:sp>
        <p:nvSpPr>
          <p:cNvPr id="19" name="Shape 17"/>
          <p:cNvSpPr/>
          <p:nvPr/>
        </p:nvSpPr>
        <p:spPr>
          <a:xfrm>
            <a:off x="6675120" y="2011680"/>
            <a:ext cx="4114800" cy="457200"/>
          </a:xfrm>
          <a:prstGeom prst="roundRect">
            <a:avLst>
              <a:gd name="adj" fmla="val 12000"/>
            </a:avLst>
          </a:prstGeom>
          <a:solidFill>
            <a:srgbClr val="F7F5F1"/>
          </a:solidFill>
          <a:ln w="12700">
            <a:solidFill>
              <a:srgbClr val="D9D2C5"/>
            </a:solidFill>
            <a:prstDash val="solid"/>
          </a:ln>
        </p:spPr>
      </p:sp>
      <p:sp>
        <p:nvSpPr>
          <p:cNvPr id="20" name="Text 18"/>
          <p:cNvSpPr/>
          <p:nvPr/>
        </p:nvSpPr>
        <p:spPr>
          <a:xfrm>
            <a:off x="6675120" y="2011680"/>
            <a:ext cx="4114800" cy="457200"/>
          </a:xfrm>
          <a:prstGeom prst="rect">
            <a:avLst/>
          </a:prstGeom>
          <a:noFill/>
          <a:ln/>
        </p:spPr>
        <p:txBody>
          <a:bodyPr wrap="square" lIns="0" tIns="0" rIns="0" bIns="0"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Your input</a:t>
            </a:r>
            <a:endParaRPr lang="en-US" sz="1200" dirty="0"/>
          </a:p>
        </p:txBody>
      </p:sp>
      <p:sp>
        <p:nvSpPr>
          <p:cNvPr id="21" name="Shape 19"/>
          <p:cNvSpPr/>
          <p:nvPr/>
        </p:nvSpPr>
        <p:spPr>
          <a:xfrm>
            <a:off x="8595360" y="2514600"/>
            <a:ext cx="128016" cy="137160"/>
          </a:xfrm>
          <a:prstGeom prst="downArrow">
            <a:avLst/>
          </a:prstGeom>
          <a:solidFill>
            <a:srgbClr val="B85042"/>
          </a:solidFill>
          <a:ln/>
        </p:spPr>
      </p:sp>
      <p:sp>
        <p:nvSpPr>
          <p:cNvPr id="22" name="Shape 20"/>
          <p:cNvSpPr/>
          <p:nvPr/>
        </p:nvSpPr>
        <p:spPr>
          <a:xfrm>
            <a:off x="6675120" y="2697480"/>
            <a:ext cx="4114800" cy="457200"/>
          </a:xfrm>
          <a:prstGeom prst="roundRect">
            <a:avLst>
              <a:gd name="adj" fmla="val 12000"/>
            </a:avLst>
          </a:prstGeom>
          <a:solidFill>
            <a:srgbClr val="B85042"/>
          </a:solidFill>
          <a:ln w="12700">
            <a:solidFill>
              <a:srgbClr val="B85042"/>
            </a:solidFill>
            <a:prstDash val="solid"/>
          </a:ln>
        </p:spPr>
      </p:sp>
      <p:sp>
        <p:nvSpPr>
          <p:cNvPr id="23" name="Text 21"/>
          <p:cNvSpPr/>
          <p:nvPr/>
        </p:nvSpPr>
        <p:spPr>
          <a:xfrm>
            <a:off x="6675120" y="2697480"/>
            <a:ext cx="41148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predicts action</a:t>
            </a:r>
            <a:endParaRPr lang="en-US" sz="1200" dirty="0"/>
          </a:p>
        </p:txBody>
      </p:sp>
      <p:sp>
        <p:nvSpPr>
          <p:cNvPr id="24" name="Shape 22"/>
          <p:cNvSpPr/>
          <p:nvPr/>
        </p:nvSpPr>
        <p:spPr>
          <a:xfrm>
            <a:off x="8595360" y="3200400"/>
            <a:ext cx="128016" cy="137160"/>
          </a:xfrm>
          <a:prstGeom prst="downArrow">
            <a:avLst/>
          </a:prstGeom>
          <a:solidFill>
            <a:srgbClr val="B85042"/>
          </a:solidFill>
          <a:ln/>
        </p:spPr>
      </p:sp>
      <p:sp>
        <p:nvSpPr>
          <p:cNvPr id="25" name="Shape 23"/>
          <p:cNvSpPr/>
          <p:nvPr/>
        </p:nvSpPr>
        <p:spPr>
          <a:xfrm>
            <a:off x="6675120" y="3383280"/>
            <a:ext cx="4114800" cy="457200"/>
          </a:xfrm>
          <a:prstGeom prst="roundRect">
            <a:avLst>
              <a:gd name="adj" fmla="val 12000"/>
            </a:avLst>
          </a:prstGeom>
          <a:solidFill>
            <a:srgbClr val="F7F5F1"/>
          </a:solidFill>
          <a:ln w="12700">
            <a:solidFill>
              <a:srgbClr val="D9D2C5"/>
            </a:solidFill>
            <a:prstDash val="solid"/>
          </a:ln>
        </p:spPr>
      </p:sp>
      <p:sp>
        <p:nvSpPr>
          <p:cNvPr id="26" name="Text 24"/>
          <p:cNvSpPr/>
          <p:nvPr/>
        </p:nvSpPr>
        <p:spPr>
          <a:xfrm>
            <a:off x="6675120" y="3383280"/>
            <a:ext cx="4114800" cy="457200"/>
          </a:xfrm>
          <a:prstGeom prst="rect">
            <a:avLst/>
          </a:prstGeom>
          <a:noFill/>
          <a:ln/>
        </p:spPr>
        <p:txBody>
          <a:bodyPr wrap="square" lIns="0" tIns="0" rIns="0" bIns="0"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Tool executes</a:t>
            </a:r>
            <a:endParaRPr lang="en-US" sz="1200" dirty="0"/>
          </a:p>
        </p:txBody>
      </p:sp>
      <p:sp>
        <p:nvSpPr>
          <p:cNvPr id="27" name="Shape 25"/>
          <p:cNvSpPr/>
          <p:nvPr/>
        </p:nvSpPr>
        <p:spPr>
          <a:xfrm>
            <a:off x="8595360" y="3886200"/>
            <a:ext cx="128016" cy="137160"/>
          </a:xfrm>
          <a:prstGeom prst="downArrow">
            <a:avLst/>
          </a:prstGeom>
          <a:solidFill>
            <a:srgbClr val="B85042"/>
          </a:solidFill>
          <a:ln/>
        </p:spPr>
      </p:sp>
      <p:sp>
        <p:nvSpPr>
          <p:cNvPr id="28" name="Shape 26"/>
          <p:cNvSpPr/>
          <p:nvPr/>
        </p:nvSpPr>
        <p:spPr>
          <a:xfrm>
            <a:off x="6675120" y="4069080"/>
            <a:ext cx="4114800" cy="457200"/>
          </a:xfrm>
          <a:prstGeom prst="roundRect">
            <a:avLst>
              <a:gd name="adj" fmla="val 12000"/>
            </a:avLst>
          </a:prstGeom>
          <a:solidFill>
            <a:srgbClr val="F7F5F1"/>
          </a:solidFill>
          <a:ln w="12700">
            <a:solidFill>
              <a:srgbClr val="D9D2C5"/>
            </a:solidFill>
            <a:prstDash val="solid"/>
          </a:ln>
        </p:spPr>
      </p:sp>
      <p:sp>
        <p:nvSpPr>
          <p:cNvPr id="29" name="Text 27"/>
          <p:cNvSpPr/>
          <p:nvPr/>
        </p:nvSpPr>
        <p:spPr>
          <a:xfrm>
            <a:off x="6675120" y="4069080"/>
            <a:ext cx="4114800" cy="457200"/>
          </a:xfrm>
          <a:prstGeom prst="rect">
            <a:avLst/>
          </a:prstGeom>
          <a:noFill/>
          <a:ln/>
        </p:spPr>
        <p:txBody>
          <a:bodyPr wrap="square" lIns="0" tIns="0" rIns="0" bIns="0"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Result feeds back to model</a:t>
            </a:r>
            <a:endParaRPr lang="en-US" sz="1200" dirty="0"/>
          </a:p>
        </p:txBody>
      </p:sp>
      <p:sp>
        <p:nvSpPr>
          <p:cNvPr id="30" name="Shape 28"/>
          <p:cNvSpPr/>
          <p:nvPr/>
        </p:nvSpPr>
        <p:spPr>
          <a:xfrm>
            <a:off x="10789920" y="4526280"/>
            <a:ext cx="457200" cy="0"/>
          </a:xfrm>
          <a:prstGeom prst="line">
            <a:avLst/>
          </a:prstGeom>
          <a:noFill/>
          <a:ln w="25400">
            <a:solidFill>
              <a:srgbClr val="B85042"/>
            </a:solidFill>
            <a:prstDash val="solid"/>
          </a:ln>
        </p:spPr>
      </p:sp>
      <p:sp>
        <p:nvSpPr>
          <p:cNvPr id="31" name="Shape 29"/>
          <p:cNvSpPr/>
          <p:nvPr/>
        </p:nvSpPr>
        <p:spPr>
          <a:xfrm>
            <a:off x="11247120" y="2697480"/>
            <a:ext cx="0" cy="1828800"/>
          </a:xfrm>
          <a:prstGeom prst="line">
            <a:avLst/>
          </a:prstGeom>
          <a:noFill/>
          <a:ln w="25400">
            <a:solidFill>
              <a:srgbClr val="B85042"/>
            </a:solidFill>
            <a:prstDash val="solid"/>
          </a:ln>
        </p:spPr>
      </p:sp>
      <p:sp>
        <p:nvSpPr>
          <p:cNvPr id="32" name="Shape 30"/>
          <p:cNvSpPr/>
          <p:nvPr/>
        </p:nvSpPr>
        <p:spPr>
          <a:xfrm>
            <a:off x="10789920" y="2697480"/>
            <a:ext cx="457200" cy="0"/>
          </a:xfrm>
          <a:prstGeom prst="line">
            <a:avLst/>
          </a:prstGeom>
          <a:noFill/>
          <a:ln w="25400">
            <a:solidFill>
              <a:srgbClr val="B85042"/>
            </a:solidFill>
            <a:prstDash val="solid"/>
          </a:ln>
        </p:spPr>
      </p:sp>
      <p:sp>
        <p:nvSpPr>
          <p:cNvPr id="33" name="Shape 31"/>
          <p:cNvSpPr/>
          <p:nvPr/>
        </p:nvSpPr>
        <p:spPr>
          <a:xfrm>
            <a:off x="10607040" y="2606040"/>
            <a:ext cx="182880" cy="182880"/>
          </a:xfrm>
          <a:prstGeom prst="leftArrow">
            <a:avLst/>
          </a:prstGeom>
          <a:solidFill>
            <a:srgbClr val="B85042"/>
          </a:solidFill>
          <a:ln/>
        </p:spPr>
      </p:sp>
      <p:sp>
        <p:nvSpPr>
          <p:cNvPr id="34" name="Text 32"/>
          <p:cNvSpPr/>
          <p:nvPr/>
        </p:nvSpPr>
        <p:spPr>
          <a:xfrm>
            <a:off x="11338560" y="3200400"/>
            <a:ext cx="1097280" cy="640080"/>
          </a:xfrm>
          <a:prstGeom prst="rect">
            <a:avLst/>
          </a:prstGeom>
          <a:noFill/>
          <a:ln/>
        </p:spPr>
        <p:txBody>
          <a:bodyPr wrap="square" lIns="0" tIns="0" rIns="0" bIns="0" rtlCol="0" anchor="ctr"/>
          <a:lstStyle/>
          <a:p>
            <a:pPr marL="0" indent="0">
              <a:buNone/>
            </a:pPr>
            <a:r>
              <a:rPr lang="en-US" sz="900" i="1" dirty="0">
                <a:solidFill>
                  <a:srgbClr val="B85042"/>
                </a:solidFill>
                <a:latin typeface="Calibri" pitchFamily="34" charset="0"/>
                <a:ea typeface="Calibri" pitchFamily="34" charset="-122"/>
                <a:cs typeface="Calibri" pitchFamily="34" charset="-120"/>
              </a:rPr>
              <a:t>repeat until</a:t>
            </a:r>
            <a:endParaRPr lang="en-US" sz="900" dirty="0"/>
          </a:p>
          <a:p>
            <a:pPr marL="0" indent="0">
              <a:buNone/>
            </a:pPr>
            <a:r>
              <a:rPr lang="en-US" sz="900" i="1" dirty="0">
                <a:solidFill>
                  <a:srgbClr val="B85042"/>
                </a:solidFill>
                <a:latin typeface="Calibri" pitchFamily="34" charset="0"/>
                <a:ea typeface="Calibri" pitchFamily="34" charset="-122"/>
                <a:cs typeface="Calibri" pitchFamily="34" charset="-120"/>
              </a:rPr>
              <a:t>final output</a:t>
            </a:r>
            <a:endParaRPr lang="en-US" sz="900" dirty="0"/>
          </a:p>
        </p:txBody>
      </p:sp>
      <p:sp>
        <p:nvSpPr>
          <p:cNvPr id="35" name="Text 33"/>
          <p:cNvSpPr/>
          <p:nvPr/>
        </p:nvSpPr>
        <p:spPr>
          <a:xfrm>
            <a:off x="6400800" y="4937760"/>
            <a:ext cx="5029200" cy="365760"/>
          </a:xfrm>
          <a:prstGeom prst="rect">
            <a:avLst/>
          </a:prstGeom>
          <a:noFill/>
          <a:ln/>
        </p:spPr>
        <p:txBody>
          <a:bodyPr wrap="square" lIns="0" tIns="0" rIns="0" bIns="0" rtlCol="0" anchor="ctr"/>
          <a:lstStyle/>
          <a:p>
            <a:pPr marL="0" indent="0" algn="ctr">
              <a:buNone/>
            </a:pPr>
            <a:r>
              <a:rPr lang="en-US" sz="1200" b="1" i="1" dirty="0">
                <a:solidFill>
                  <a:srgbClr val="B85042"/>
                </a:solidFill>
                <a:latin typeface="Calibri" pitchFamily="34" charset="0"/>
                <a:ea typeface="Calibri" pitchFamily="34" charset="-122"/>
                <a:cs typeface="Calibri" pitchFamily="34" charset="-120"/>
              </a:rPr>
              <a:t>A loop. The MODEL decides the flow.</a:t>
            </a:r>
            <a:endParaRPr lang="en-US" sz="1200" dirty="0"/>
          </a:p>
        </p:txBody>
      </p:sp>
      <p:sp>
        <p:nvSpPr>
          <p:cNvPr id="36" name="Text 3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37" name="Text 3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The SDK primitives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Five things to learn. That's it.</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731520" y="1600200"/>
            <a:ext cx="2926080" cy="457200"/>
          </a:xfrm>
          <a:prstGeom prst="rect">
            <a:avLst/>
          </a:prstGeom>
          <a:noFill/>
          <a:ln/>
        </p:spPr>
        <p:txBody>
          <a:bodyPr wrap="square" lIns="0" tIns="0" rIns="0" bIns="0"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Agent</a:t>
            </a:r>
            <a:endParaRPr lang="en-US" sz="2200" dirty="0"/>
          </a:p>
        </p:txBody>
      </p:sp>
      <p:sp>
        <p:nvSpPr>
          <p:cNvPr id="6" name="Text 4"/>
          <p:cNvSpPr/>
          <p:nvPr/>
        </p:nvSpPr>
        <p:spPr>
          <a:xfrm>
            <a:off x="3840480" y="1600200"/>
            <a:ext cx="7772400" cy="64008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An LLM configured with a name, instructions (system prompt), and tools. The definition, not the loop itself.</a:t>
            </a:r>
            <a:endParaRPr lang="en-US" sz="1300" dirty="0"/>
          </a:p>
        </p:txBody>
      </p:sp>
      <p:sp>
        <p:nvSpPr>
          <p:cNvPr id="7" name="Shape 5"/>
          <p:cNvSpPr/>
          <p:nvPr/>
        </p:nvSpPr>
        <p:spPr>
          <a:xfrm>
            <a:off x="731520" y="2377440"/>
            <a:ext cx="10698480" cy="0"/>
          </a:xfrm>
          <a:prstGeom prst="line">
            <a:avLst/>
          </a:prstGeom>
          <a:noFill/>
          <a:ln w="6350">
            <a:solidFill>
              <a:srgbClr val="D9D2C5"/>
            </a:solidFill>
            <a:prstDash val="solid"/>
          </a:ln>
        </p:spPr>
      </p:sp>
      <p:sp>
        <p:nvSpPr>
          <p:cNvPr id="8" name="Text 6"/>
          <p:cNvSpPr/>
          <p:nvPr/>
        </p:nvSpPr>
        <p:spPr>
          <a:xfrm>
            <a:off x="731520" y="2514600"/>
            <a:ext cx="2926080" cy="457200"/>
          </a:xfrm>
          <a:prstGeom prst="rect">
            <a:avLst/>
          </a:prstGeom>
          <a:noFill/>
          <a:ln/>
        </p:spPr>
        <p:txBody>
          <a:bodyPr wrap="square" lIns="0" tIns="0" rIns="0" bIns="0"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Runner</a:t>
            </a:r>
            <a:endParaRPr lang="en-US" sz="2200" dirty="0"/>
          </a:p>
        </p:txBody>
      </p:sp>
      <p:sp>
        <p:nvSpPr>
          <p:cNvPr id="9" name="Text 7"/>
          <p:cNvSpPr/>
          <p:nvPr/>
        </p:nvSpPr>
        <p:spPr>
          <a:xfrm>
            <a:off x="3840480" y="2514600"/>
            <a:ext cx="7772400" cy="64008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Runs the agent loop. Call model, execute tools, feed results back, repeat until done.</a:t>
            </a:r>
            <a:endParaRPr lang="en-US" sz="1300" dirty="0"/>
          </a:p>
        </p:txBody>
      </p:sp>
      <p:sp>
        <p:nvSpPr>
          <p:cNvPr id="10" name="Shape 8"/>
          <p:cNvSpPr/>
          <p:nvPr/>
        </p:nvSpPr>
        <p:spPr>
          <a:xfrm>
            <a:off x="731520" y="3291840"/>
            <a:ext cx="10698480" cy="0"/>
          </a:xfrm>
          <a:prstGeom prst="line">
            <a:avLst/>
          </a:prstGeom>
          <a:noFill/>
          <a:ln w="6350">
            <a:solidFill>
              <a:srgbClr val="D9D2C5"/>
            </a:solidFill>
            <a:prstDash val="solid"/>
          </a:ln>
        </p:spPr>
      </p:sp>
      <p:sp>
        <p:nvSpPr>
          <p:cNvPr id="11" name="Text 9"/>
          <p:cNvSpPr/>
          <p:nvPr/>
        </p:nvSpPr>
        <p:spPr>
          <a:xfrm>
            <a:off x="731520" y="3429000"/>
            <a:ext cx="2926080" cy="457200"/>
          </a:xfrm>
          <a:prstGeom prst="rect">
            <a:avLst/>
          </a:prstGeom>
          <a:noFill/>
          <a:ln/>
        </p:spPr>
        <p:txBody>
          <a:bodyPr wrap="square" lIns="0" tIns="0" rIns="0" bIns="0"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RunResult</a:t>
            </a:r>
            <a:endParaRPr lang="en-US" sz="2200" dirty="0"/>
          </a:p>
        </p:txBody>
      </p:sp>
      <p:sp>
        <p:nvSpPr>
          <p:cNvPr id="12" name="Text 10"/>
          <p:cNvSpPr/>
          <p:nvPr/>
        </p:nvSpPr>
        <p:spPr>
          <a:xfrm>
            <a:off x="3840480" y="3429000"/>
            <a:ext cx="7772400" cy="64008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What Runner returns. Contains final_output, new_items (full history), last_agent.</a:t>
            </a:r>
            <a:endParaRPr lang="en-US" sz="1300" dirty="0"/>
          </a:p>
        </p:txBody>
      </p:sp>
      <p:sp>
        <p:nvSpPr>
          <p:cNvPr id="13" name="Shape 11"/>
          <p:cNvSpPr/>
          <p:nvPr/>
        </p:nvSpPr>
        <p:spPr>
          <a:xfrm>
            <a:off x="731520" y="4206240"/>
            <a:ext cx="10698480" cy="0"/>
          </a:xfrm>
          <a:prstGeom prst="line">
            <a:avLst/>
          </a:prstGeom>
          <a:noFill/>
          <a:ln w="6350">
            <a:solidFill>
              <a:srgbClr val="D9D2C5"/>
            </a:solidFill>
            <a:prstDash val="solid"/>
          </a:ln>
        </p:spPr>
      </p:sp>
      <p:sp>
        <p:nvSpPr>
          <p:cNvPr id="14" name="Text 12"/>
          <p:cNvSpPr/>
          <p:nvPr/>
        </p:nvSpPr>
        <p:spPr>
          <a:xfrm>
            <a:off x="731520" y="4343400"/>
            <a:ext cx="2926080" cy="457200"/>
          </a:xfrm>
          <a:prstGeom prst="rect">
            <a:avLst/>
          </a:prstGeom>
          <a:noFill/>
          <a:ln/>
        </p:spPr>
        <p:txBody>
          <a:bodyPr wrap="square" lIns="0" tIns="0" rIns="0" bIns="0"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function_tool</a:t>
            </a:r>
            <a:endParaRPr lang="en-US" sz="2200" dirty="0"/>
          </a:p>
        </p:txBody>
      </p:sp>
      <p:sp>
        <p:nvSpPr>
          <p:cNvPr id="15" name="Text 13"/>
          <p:cNvSpPr/>
          <p:nvPr/>
        </p:nvSpPr>
        <p:spPr>
          <a:xfrm>
            <a:off x="3840480" y="4343400"/>
            <a:ext cx="7772400" cy="64008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A Python function the model can call. Docstring becomes the description. Type hints become the schema.</a:t>
            </a:r>
            <a:endParaRPr lang="en-US" sz="1300" dirty="0"/>
          </a:p>
        </p:txBody>
      </p:sp>
      <p:sp>
        <p:nvSpPr>
          <p:cNvPr id="16" name="Shape 14"/>
          <p:cNvSpPr/>
          <p:nvPr/>
        </p:nvSpPr>
        <p:spPr>
          <a:xfrm>
            <a:off x="731520" y="5120640"/>
            <a:ext cx="10698480" cy="0"/>
          </a:xfrm>
          <a:prstGeom prst="line">
            <a:avLst/>
          </a:prstGeom>
          <a:noFill/>
          <a:ln w="6350">
            <a:solidFill>
              <a:srgbClr val="D9D2C5"/>
            </a:solidFill>
            <a:prstDash val="solid"/>
          </a:ln>
        </p:spPr>
      </p:sp>
      <p:sp>
        <p:nvSpPr>
          <p:cNvPr id="17" name="Text 15"/>
          <p:cNvSpPr/>
          <p:nvPr/>
        </p:nvSpPr>
        <p:spPr>
          <a:xfrm>
            <a:off x="731520" y="5257800"/>
            <a:ext cx="2926080" cy="457200"/>
          </a:xfrm>
          <a:prstGeom prst="rect">
            <a:avLst/>
          </a:prstGeom>
          <a:noFill/>
          <a:ln/>
        </p:spPr>
        <p:txBody>
          <a:bodyPr wrap="square" lIns="0" tIns="0" rIns="0" bIns="0" rtlCol="0" anchor="ctr"/>
          <a:lstStyle/>
          <a:p>
            <a:pPr marL="0" indent="0">
              <a:buNone/>
            </a:pPr>
            <a:r>
              <a:rPr lang="en-US" sz="2200" b="1" dirty="0">
                <a:solidFill>
                  <a:srgbClr val="B85042"/>
                </a:solidFill>
                <a:latin typeface="Cambria" pitchFamily="34" charset="0"/>
                <a:ea typeface="Cambria" pitchFamily="34" charset="-122"/>
                <a:cs typeface="Cambria" pitchFamily="34" charset="-120"/>
              </a:rPr>
              <a:t>Turn</a:t>
            </a:r>
            <a:endParaRPr lang="en-US" sz="2200" dirty="0"/>
          </a:p>
        </p:txBody>
      </p:sp>
      <p:sp>
        <p:nvSpPr>
          <p:cNvPr id="18" name="Text 16"/>
          <p:cNvSpPr/>
          <p:nvPr/>
        </p:nvSpPr>
        <p:spPr>
          <a:xfrm>
            <a:off x="3840480" y="5257800"/>
            <a:ext cx="7772400" cy="64008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One cycle: model call + tool execution(s). A single Runner.run() can take multiple turns. max_turns caps it (default 10).</a:t>
            </a:r>
            <a:endParaRPr lang="en-US" sz="1300" dirty="0"/>
          </a:p>
        </p:txBody>
      </p:sp>
      <p:sp>
        <p:nvSpPr>
          <p:cNvPr id="19" name="Text 17"/>
          <p:cNvSpPr/>
          <p:nvPr/>
        </p:nvSpPr>
        <p:spPr>
          <a:xfrm>
            <a:off x="731520" y="6035040"/>
            <a:ext cx="1069848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Everything else (handoffs, guardrails, sessions, streaming) builds on these five.</a:t>
            </a:r>
            <a:endParaRPr lang="en-US" sz="110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21" name="Text 19"/>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First agent: the bare minimum</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 tools. The loop runs once. Functionally identical to a raw API call.</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457200" y="1463040"/>
            <a:ext cx="6858000" cy="320040"/>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CODE BLOCK 1 · BARE MINIMUM AGENT</a:t>
            </a:r>
            <a:endParaRPr lang="en-US" sz="1100" dirty="0"/>
          </a:p>
        </p:txBody>
      </p:sp>
      <p:sp>
        <p:nvSpPr>
          <p:cNvPr id="6" name="Shape 4"/>
          <p:cNvSpPr/>
          <p:nvPr/>
        </p:nvSpPr>
        <p:spPr>
          <a:xfrm>
            <a:off x="457200" y="1783080"/>
            <a:ext cx="6858000" cy="3291840"/>
          </a:xfrm>
          <a:prstGeom prst="roundRect">
            <a:avLst>
              <a:gd name="adj" fmla="val 1667"/>
            </a:avLst>
          </a:prstGeom>
          <a:solidFill>
            <a:srgbClr val="F4F4F4"/>
          </a:solidFill>
          <a:ln w="6350">
            <a:solidFill>
              <a:srgbClr val="D9D2C5"/>
            </a:solidFill>
            <a:prstDash val="solid"/>
          </a:ln>
        </p:spPr>
      </p:sp>
      <p:sp>
        <p:nvSpPr>
          <p:cNvPr id="7" name="Text 5"/>
          <p:cNvSpPr/>
          <p:nvPr/>
        </p:nvSpPr>
        <p:spPr>
          <a:xfrm>
            <a:off x="594360" y="1874520"/>
            <a:ext cx="6583680" cy="310896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import asyncio</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from agents import Agent, Runner</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agent = Agent(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name="Assistant",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instructions="You are a helpful assistant. Be concise.",</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async def main():</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result = await Runner.run(agent, "What is the capital of France?")</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print(result.final_output)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if __name__ == "__main__":</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asyncio.run(main())</a:t>
            </a:r>
            <a:endParaRPr lang="en-US" sz="1000" dirty="0"/>
          </a:p>
        </p:txBody>
      </p:sp>
      <p:sp>
        <p:nvSpPr>
          <p:cNvPr id="8" name="Text 6"/>
          <p:cNvSpPr/>
          <p:nvPr/>
        </p:nvSpPr>
        <p:spPr>
          <a:xfrm>
            <a:off x="7772400" y="1463040"/>
            <a:ext cx="3931920" cy="36576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Line by line</a:t>
            </a:r>
            <a:endParaRPr lang="en-US" sz="1400" dirty="0"/>
          </a:p>
        </p:txBody>
      </p:sp>
      <p:sp>
        <p:nvSpPr>
          <p:cNvPr id="9" name="Text 7"/>
          <p:cNvSpPr/>
          <p:nvPr/>
        </p:nvSpPr>
        <p:spPr>
          <a:xfrm>
            <a:off x="7772400" y="1965960"/>
            <a:ext cx="3931920" cy="32004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Agent(...) defines the agent. name is for tracing. instructions is the system prompt.</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Runner.run() starts the loop. No tools, so it runs once: model generates text, done.</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result.final_output is the string the model produced.</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async because the SDK is async-native. asyncio.run() is the entry point.</a:t>
            </a:r>
            <a:endParaRPr lang="en-US" sz="1100" dirty="0"/>
          </a:p>
        </p:txBody>
      </p:sp>
      <p:sp>
        <p:nvSpPr>
          <p:cNvPr id="10" name="Shape 8"/>
          <p:cNvSpPr/>
          <p:nvPr/>
        </p:nvSpPr>
        <p:spPr>
          <a:xfrm>
            <a:off x="7772400" y="5120640"/>
            <a:ext cx="3931920" cy="914400"/>
          </a:xfrm>
          <a:prstGeom prst="roundRect">
            <a:avLst>
              <a:gd name="adj" fmla="val 6000"/>
            </a:avLst>
          </a:prstGeom>
          <a:solidFill>
            <a:srgbClr val="F7F5F1"/>
          </a:solidFill>
          <a:ln w="12700">
            <a:solidFill>
              <a:srgbClr val="D9D2C5"/>
            </a:solidFill>
            <a:prstDash val="solid"/>
          </a:ln>
        </p:spPr>
      </p:sp>
      <p:sp>
        <p:nvSpPr>
          <p:cNvPr id="11" name="Text 9"/>
          <p:cNvSpPr/>
          <p:nvPr/>
        </p:nvSpPr>
        <p:spPr>
          <a:xfrm>
            <a:off x="7909560" y="5166360"/>
            <a:ext cx="3657600" cy="274320"/>
          </a:xfrm>
          <a:prstGeom prst="rect">
            <a:avLst/>
          </a:prstGeom>
          <a:noFill/>
          <a:ln/>
        </p:spPr>
        <p:txBody>
          <a:bodyPr wrap="square" lIns="0" tIns="0" rIns="0" bIns="0" rtlCol="0" anchor="ctr"/>
          <a:lstStyle/>
          <a:p>
            <a:pPr marL="0" indent="0">
              <a:buNone/>
            </a:pPr>
            <a:r>
              <a:rPr lang="en-US" sz="1000" b="1" dirty="0">
                <a:solidFill>
                  <a:srgbClr val="B85042"/>
                </a:solidFill>
                <a:latin typeface="Calibri" pitchFamily="34" charset="0"/>
                <a:ea typeface="Calibri" pitchFamily="34" charset="-122"/>
                <a:cs typeface="Calibri" pitchFamily="34" charset="-120"/>
              </a:rPr>
              <a:t>SHORTCUT: run_sync</a:t>
            </a:r>
            <a:endParaRPr lang="en-US" sz="1000" dirty="0"/>
          </a:p>
        </p:txBody>
      </p:sp>
      <p:sp>
        <p:nvSpPr>
          <p:cNvPr id="12" name="Text 10"/>
          <p:cNvSpPr/>
          <p:nvPr/>
        </p:nvSpPr>
        <p:spPr>
          <a:xfrm>
            <a:off x="7909560" y="5440680"/>
            <a:ext cx="3657600" cy="5486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Runner.run_sync(agent, "...") skips the async boilerplate. Fine for scripts. Won't work inside FastAPI or Jupyter.</a:t>
            </a:r>
            <a:endParaRPr lang="en-US" sz="1000" dirty="0"/>
          </a:p>
        </p:txBody>
      </p:sp>
      <p:sp>
        <p:nvSpPr>
          <p:cNvPr id="13" name="Text 11"/>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4" name="Text 12"/>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Adding tools: now it's an agent</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@function_tool turns a Python function into something the model can call.</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457200" y="1463040"/>
            <a:ext cx="6858000" cy="320040"/>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CODE BLOCK 2 · SINGLE TOOL</a:t>
            </a:r>
            <a:endParaRPr lang="en-US" sz="1100" dirty="0"/>
          </a:p>
        </p:txBody>
      </p:sp>
      <p:sp>
        <p:nvSpPr>
          <p:cNvPr id="6" name="Shape 4"/>
          <p:cNvSpPr/>
          <p:nvPr/>
        </p:nvSpPr>
        <p:spPr>
          <a:xfrm>
            <a:off x="457200" y="1783080"/>
            <a:ext cx="6858000" cy="4206240"/>
          </a:xfrm>
          <a:prstGeom prst="roundRect">
            <a:avLst>
              <a:gd name="adj" fmla="val 1304"/>
            </a:avLst>
          </a:prstGeom>
          <a:solidFill>
            <a:srgbClr val="F4F4F4"/>
          </a:solidFill>
          <a:ln w="6350">
            <a:solidFill>
              <a:srgbClr val="D9D2C5"/>
            </a:solidFill>
            <a:prstDash val="solid"/>
          </a:ln>
        </p:spPr>
      </p:sp>
      <p:sp>
        <p:nvSpPr>
          <p:cNvPr id="7" name="Text 5"/>
          <p:cNvSpPr/>
          <p:nvPr/>
        </p:nvSpPr>
        <p:spPr>
          <a:xfrm>
            <a:off x="594360" y="1874520"/>
            <a:ext cx="6583680" cy="402336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from agents import Agent, Runner, function_tool</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@function_tool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def get_weather(city: str) -&gt; str: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"""Returns the current weather for a given city."""</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weather_data = {</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"london": "Cloudy, 14C",</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"karachi": "Hot, 38C",</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return weather_data.get(city.lower(), f"No data for {city}")</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agent = Agent(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name="Weather Assistant",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instructions="Help users check the weather. Use get_weather when asked.",</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tools=[get_weather],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async def main():</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result = await Runner.run(agent, "What's the weather in London?")</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print(result.final_output)</a:t>
            </a:r>
            <a:endParaRPr lang="en-US" sz="1000" dirty="0"/>
          </a:p>
        </p:txBody>
      </p:sp>
      <p:sp>
        <p:nvSpPr>
          <p:cNvPr id="8" name="Text 6"/>
          <p:cNvSpPr/>
          <p:nvPr/>
        </p:nvSpPr>
        <p:spPr>
          <a:xfrm>
            <a:off x="7772400" y="1463040"/>
            <a:ext cx="3931920" cy="36576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Under the hood</a:t>
            </a:r>
            <a:endParaRPr lang="en-US" sz="1400" dirty="0"/>
          </a:p>
        </p:txBody>
      </p:sp>
      <p:sp>
        <p:nvSpPr>
          <p:cNvPr id="9" name="Text 7"/>
          <p:cNvSpPr/>
          <p:nvPr/>
        </p:nvSpPr>
        <p:spPr>
          <a:xfrm>
            <a:off x="7772400" y="1965960"/>
            <a:ext cx="3931920" cy="3200400"/>
          </a:xfrm>
          <a:prstGeom prst="rect">
            <a:avLst/>
          </a:prstGeom>
          <a:noFill/>
          <a:ln/>
        </p:spPr>
        <p:txBody>
          <a:bodyPr wrap="square" lIns="0" tIns="0" rIns="0" bIns="0" rtlCol="0" anchor="ctr"/>
          <a:lstStyle/>
          <a:p>
            <a:pPr marL="0" indent="0">
              <a:spcAft>
                <a:spcPts val="800"/>
              </a:spcAft>
              <a:buNone/>
            </a:pPr>
            <a:r>
              <a:rPr lang="en-US" sz="1100" dirty="0">
                <a:solidFill>
                  <a:srgbClr val="1F2937"/>
                </a:solidFill>
                <a:latin typeface="Calibri" pitchFamily="34" charset="0"/>
                <a:ea typeface="Calibri" pitchFamily="34" charset="-122"/>
                <a:cs typeface="Calibri" pitchFamily="34" charset="-120"/>
              </a:rPr>
              <a:t>1. Runner sends user message + tool descriptions to the model.</a:t>
            </a:r>
            <a:endParaRPr lang="en-US" sz="1100" dirty="0"/>
          </a:p>
          <a:p>
            <a:pPr marL="0" indent="0">
              <a:spcAft>
                <a:spcPts val="800"/>
              </a:spcAft>
              <a:buNone/>
            </a:pPr>
            <a:r>
              <a:rPr lang="en-US" sz="1100" dirty="0">
                <a:solidFill>
                  <a:srgbClr val="1F2937"/>
                </a:solidFill>
                <a:latin typeface="Calibri" pitchFamily="34" charset="0"/>
                <a:ea typeface="Calibri" pitchFamily="34" charset="-122"/>
                <a:cs typeface="Calibri" pitchFamily="34" charset="-120"/>
              </a:rPr>
              <a:t>2. Model sees get_weather (name, docstring, type hints) and decides to call it.</a:t>
            </a:r>
            <a:endParaRPr lang="en-US" sz="1100" dirty="0"/>
          </a:p>
          <a:p>
            <a:pPr marL="0" indent="0">
              <a:spcAft>
                <a:spcPts val="800"/>
              </a:spcAft>
              <a:buNone/>
            </a:pPr>
            <a:r>
              <a:rPr lang="en-US" sz="1100" dirty="0">
                <a:solidFill>
                  <a:srgbClr val="1F2937"/>
                </a:solidFill>
                <a:latin typeface="Calibri" pitchFamily="34" charset="0"/>
                <a:ea typeface="Calibri" pitchFamily="34" charset="-122"/>
                <a:cs typeface="Calibri" pitchFamily="34" charset="-120"/>
              </a:rPr>
              <a:t>3. Runner executes get_weather(city="London"). Gets "Cloudy, 14C".</a:t>
            </a:r>
            <a:endParaRPr lang="en-US" sz="1100" dirty="0"/>
          </a:p>
          <a:p>
            <a:pPr marL="0" indent="0">
              <a:spcAft>
                <a:spcPts val="800"/>
              </a:spcAft>
              <a:buNone/>
            </a:pPr>
            <a:r>
              <a:rPr lang="en-US" sz="1100" dirty="0">
                <a:solidFill>
                  <a:srgbClr val="1F2937"/>
                </a:solidFill>
                <a:latin typeface="Calibri" pitchFamily="34" charset="0"/>
                <a:ea typeface="Calibri" pitchFamily="34" charset="-122"/>
                <a:cs typeface="Calibri" pitchFamily="34" charset="-120"/>
              </a:rPr>
              <a:t>4. Runner sends that result back to the model.</a:t>
            </a:r>
            <a:endParaRPr lang="en-US" sz="1100" dirty="0"/>
          </a:p>
          <a:p>
            <a:pPr marL="0" indent="0">
              <a:spcAft>
                <a:spcPts val="800"/>
              </a:spcAft>
              <a:buNone/>
            </a:pPr>
            <a:r>
              <a:rPr lang="en-US" sz="1100" dirty="0">
                <a:solidFill>
                  <a:srgbClr val="1F2937"/>
                </a:solidFill>
                <a:latin typeface="Calibri" pitchFamily="34" charset="0"/>
                <a:ea typeface="Calibri" pitchFamily="34" charset="-122"/>
                <a:cs typeface="Calibri" pitchFamily="34" charset="-120"/>
              </a:rPr>
              <a:t>5. Model generates a final response with the weather data.</a:t>
            </a:r>
            <a:endParaRPr lang="en-US" sz="1100" dirty="0"/>
          </a:p>
        </p:txBody>
      </p:sp>
      <p:sp>
        <p:nvSpPr>
          <p:cNvPr id="10" name="Shape 8"/>
          <p:cNvSpPr/>
          <p:nvPr/>
        </p:nvSpPr>
        <p:spPr>
          <a:xfrm>
            <a:off x="7772400" y="5029200"/>
            <a:ext cx="3931920" cy="1005840"/>
          </a:xfrm>
          <a:prstGeom prst="roundRect">
            <a:avLst>
              <a:gd name="adj" fmla="val 7273"/>
            </a:avLst>
          </a:prstGeom>
          <a:solidFill>
            <a:srgbClr val="1A2942"/>
          </a:solidFill>
          <a:ln/>
        </p:spPr>
      </p:sp>
      <p:sp>
        <p:nvSpPr>
          <p:cNvPr id="11" name="Text 9"/>
          <p:cNvSpPr/>
          <p:nvPr/>
        </p:nvSpPr>
        <p:spPr>
          <a:xfrm>
            <a:off x="7955280" y="5120640"/>
            <a:ext cx="3566160" cy="822960"/>
          </a:xfrm>
          <a:prstGeom prst="rect">
            <a:avLst/>
          </a:prstGeom>
          <a:noFill/>
          <a:ln/>
        </p:spPr>
        <p:txBody>
          <a:bodyPr wrap="square" lIns="0" tIns="0" rIns="0" bIns="0" rtlCol="0" anchor="ctr"/>
          <a:lstStyle/>
          <a:p>
            <a:pPr marL="0" indent="0">
              <a:buNone/>
            </a:pPr>
            <a:r>
              <a:rPr lang="en-US" sz="1100" b="1" dirty="0">
                <a:solidFill>
                  <a:srgbClr val="E8C5BB"/>
                </a:solidFill>
                <a:latin typeface="Calibri" pitchFamily="34" charset="0"/>
                <a:ea typeface="Calibri" pitchFamily="34" charset="-122"/>
                <a:cs typeface="Calibri" pitchFamily="34" charset="-120"/>
              </a:rPr>
              <a:t>The docstring IS the tool description. The type hints ARE the parameter schema. Bad docstrings = bad tool calls.</a:t>
            </a:r>
            <a:endParaRPr lang="en-US" sz="1100" dirty="0"/>
          </a:p>
        </p:txBody>
      </p:sp>
      <p:sp>
        <p:nvSpPr>
          <p:cNvPr id="12" name="Text 1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3" name="Text 11"/>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Multiple tools: the model chooses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Three tools. The model decides which to call, and when.</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457200" y="1371600"/>
            <a:ext cx="7772400" cy="320040"/>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CODE BLOCK 3 · MULTIPLE TOOLS</a:t>
            </a:r>
            <a:endParaRPr lang="en-US" sz="1100" dirty="0"/>
          </a:p>
        </p:txBody>
      </p:sp>
      <p:sp>
        <p:nvSpPr>
          <p:cNvPr id="6" name="Shape 4"/>
          <p:cNvSpPr/>
          <p:nvPr/>
        </p:nvSpPr>
        <p:spPr>
          <a:xfrm>
            <a:off x="457200" y="1691640"/>
            <a:ext cx="7772400" cy="4572000"/>
          </a:xfrm>
          <a:prstGeom prst="roundRect">
            <a:avLst>
              <a:gd name="adj" fmla="val 1200"/>
            </a:avLst>
          </a:prstGeom>
          <a:solidFill>
            <a:srgbClr val="F4F4F4"/>
          </a:solidFill>
          <a:ln w="6350">
            <a:solidFill>
              <a:srgbClr val="D9D2C5"/>
            </a:solidFill>
            <a:prstDash val="solid"/>
          </a:ln>
        </p:spPr>
      </p:sp>
      <p:sp>
        <p:nvSpPr>
          <p:cNvPr id="7" name="Text 5"/>
          <p:cNvSpPr/>
          <p:nvPr/>
        </p:nvSpPr>
        <p:spPr>
          <a:xfrm>
            <a:off x="594360" y="1783080"/>
            <a:ext cx="7498080" cy="438912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@function_tool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def get_weather(city: str) -&gt; str: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"""Returns the current weather for a given city."""</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weather_data = {"london": "Cloudy, 14C", "karachi": "Hot, 38C"}</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return weather_data.get(city.lower(), f"No data for {city}")</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@function_tool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def get_time(city: str) -&gt; str: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"""Returns the current local time in a given city."""</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time_data = {"london": "3:00 PM GMT", "karachi": "8:00 PM PKT"}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return time_data.get(city.lower(), f"No data for {city}")</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@function_tool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def save_note(content: str) -&gt; str: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"""Saves a note for the user."""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print(f"[SAVED NOTE]: {content}")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return f"Note saved: {content}"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agent = Agent(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name="Personal Assistant",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instructions=(</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"You can check weather, check time, and save notes. "</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"When asked about a city, check both weather and time."</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tools=[get_weather, get_time, save_note],</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8686800" y="1645920"/>
            <a:ext cx="3017520" cy="4389120"/>
          </a:xfrm>
          <a:prstGeom prst="roundRect">
            <a:avLst>
              <a:gd name="adj" fmla="val 2424"/>
            </a:avLst>
          </a:prstGeom>
          <a:solidFill>
            <a:srgbClr val="F7F5F1"/>
          </a:solidFill>
          <a:ln w="12700">
            <a:solidFill>
              <a:srgbClr val="D9D2C5"/>
            </a:solidFill>
            <a:prstDash val="solid"/>
          </a:ln>
        </p:spPr>
      </p:sp>
      <p:sp>
        <p:nvSpPr>
          <p:cNvPr id="9" name="Text 7"/>
          <p:cNvSpPr/>
          <p:nvPr/>
        </p:nvSpPr>
        <p:spPr>
          <a:xfrm>
            <a:off x="8869680" y="1783080"/>
            <a:ext cx="274320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WHAT TO WATCH FOR</a:t>
            </a:r>
            <a:endParaRPr lang="en-US" sz="1000" dirty="0"/>
          </a:p>
        </p:txBody>
      </p:sp>
      <p:sp>
        <p:nvSpPr>
          <p:cNvPr id="10" name="Text 8"/>
          <p:cNvSpPr/>
          <p:nvPr/>
        </p:nvSpPr>
        <p:spPr>
          <a:xfrm>
            <a:off x="8869680" y="2148840"/>
            <a:ext cx="2651760" cy="36576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Run this with:</a:t>
            </a:r>
            <a:endParaRPr lang="en-US" sz="1100" dirty="0"/>
          </a:p>
          <a:p>
            <a:pPr marL="0" indent="0">
              <a:buNone/>
            </a:pPr>
            <a:r>
              <a:rPr lang="en-US" sz="1100" dirty="0">
                <a:solidFill>
                  <a:srgbClr val="1F2937"/>
                </a:solidFill>
                <a:latin typeface="Calibri" pitchFamily="34" charset="0"/>
                <a:ea typeface="Calibri" pitchFamily="34" charset="-122"/>
                <a:cs typeface="Calibri" pitchFamily="34" charset="-120"/>
              </a:rPr>
              <a:t>"What's it like in London right now?"</a:t>
            </a:r>
            <a:endParaRPr lang="en-US" sz="1100" dirty="0"/>
          </a:p>
          <a:p>
            <a:pPr marL="0" indent="0">
              <a:buNone/>
            </a:pPr>
            <a:endParaRPr lang="en-US" sz="1100" dirty="0"/>
          </a:p>
          <a:p>
            <a:pPr marL="0" indent="0">
              <a:buNone/>
            </a:pPr>
            <a:r>
              <a:rPr lang="en-US" sz="1100" dirty="0">
                <a:solidFill>
                  <a:srgbClr val="1F2937"/>
                </a:solidFill>
                <a:latin typeface="Calibri" pitchFamily="34" charset="0"/>
                <a:ea typeface="Calibri" pitchFamily="34" charset="-122"/>
                <a:cs typeface="Calibri" pitchFamily="34" charset="-120"/>
              </a:rPr>
              <a:t>The model might call BOTH get_weather and get_time in a single turn (parallel tool calls).</a:t>
            </a:r>
            <a:endParaRPr lang="en-US" sz="1100" dirty="0"/>
          </a:p>
          <a:p>
            <a:pPr marL="0" indent="0">
              <a:buNone/>
            </a:pPr>
            <a:endParaRPr lang="en-US" sz="1100" dirty="0"/>
          </a:p>
          <a:p>
            <a:pPr marL="0" indent="0">
              <a:buNone/>
            </a:pPr>
            <a:r>
              <a:rPr lang="en-US" sz="1100" dirty="0">
                <a:solidFill>
                  <a:srgbClr val="1F2937"/>
                </a:solidFill>
                <a:latin typeface="Calibri" pitchFamily="34" charset="0"/>
                <a:ea typeface="Calibri" pitchFamily="34" charset="-122"/>
                <a:cs typeface="Calibri" pitchFamily="34" charset="-120"/>
              </a:rPr>
              <a:t>Or it might call one, see the result, then decide to call the other.</a:t>
            </a:r>
            <a:endParaRPr lang="en-US" sz="1100" dirty="0"/>
          </a:p>
          <a:p>
            <a:pPr marL="0" indent="0">
              <a:buNone/>
            </a:pPr>
            <a:endParaRPr lang="en-US" sz="1100" dirty="0"/>
          </a:p>
          <a:p>
            <a:pPr marL="0" indent="0">
              <a:buNone/>
            </a:pPr>
            <a:r>
              <a:rPr lang="en-US" sz="1100" dirty="0">
                <a:solidFill>
                  <a:srgbClr val="1F2937"/>
                </a:solidFill>
                <a:latin typeface="Calibri" pitchFamily="34" charset="0"/>
                <a:ea typeface="Calibri" pitchFamily="34" charset="-122"/>
                <a:cs typeface="Calibri" pitchFamily="34" charset="-120"/>
              </a:rPr>
              <a:t>The model decides.</a:t>
            </a:r>
            <a:endParaRPr lang="en-US" sz="1100" dirty="0"/>
          </a:p>
          <a:p>
            <a:pPr marL="0" indent="0">
              <a:buNone/>
            </a:pPr>
            <a:r>
              <a:rPr lang="en-US" sz="1100" dirty="0">
                <a:solidFill>
                  <a:srgbClr val="1F2937"/>
                </a:solidFill>
                <a:latin typeface="Calibri" pitchFamily="34" charset="0"/>
                <a:ea typeface="Calibri" pitchFamily="34" charset="-122"/>
                <a:cs typeface="Calibri" pitchFamily="34" charset="-120"/>
              </a:rPr>
              <a:t>That's what makes it agentic.</a:t>
            </a:r>
            <a:endParaRPr lang="en-US" sz="1100" dirty="0"/>
          </a:p>
        </p:txBody>
      </p:sp>
      <p:sp>
        <p:nvSpPr>
          <p:cNvPr id="11" name="Text 9"/>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2" name="Text 10"/>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Inspecting the loop: what happened inside?</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RunResult tells you everything. This is how you debug production agents.</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457200" y="1371600"/>
            <a:ext cx="6858000" cy="320040"/>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CODE BLOCK 4 · INSPECTING RUNRESULT</a:t>
            </a:r>
            <a:endParaRPr lang="en-US" sz="1100" dirty="0"/>
          </a:p>
        </p:txBody>
      </p:sp>
      <p:sp>
        <p:nvSpPr>
          <p:cNvPr id="6" name="Shape 4"/>
          <p:cNvSpPr/>
          <p:nvPr/>
        </p:nvSpPr>
        <p:spPr>
          <a:xfrm>
            <a:off x="457200" y="1691640"/>
            <a:ext cx="6858000" cy="2468880"/>
          </a:xfrm>
          <a:prstGeom prst="roundRect">
            <a:avLst>
              <a:gd name="adj" fmla="val 2222"/>
            </a:avLst>
          </a:prstGeom>
          <a:solidFill>
            <a:srgbClr val="F4F4F4"/>
          </a:solidFill>
          <a:ln w="6350">
            <a:solidFill>
              <a:srgbClr val="D9D2C5"/>
            </a:solidFill>
            <a:prstDash val="solid"/>
          </a:ln>
        </p:spPr>
      </p:sp>
      <p:sp>
        <p:nvSpPr>
          <p:cNvPr id="7" name="Text 5"/>
          <p:cNvSpPr/>
          <p:nvPr/>
        </p:nvSpPr>
        <p:spPr>
          <a:xfrm>
            <a:off x="594360" y="1783080"/>
            <a:ext cx="6583680" cy="228600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async def main():</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result = await Runner.run(agent, "What's the weather in London?")</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 What the model produced</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print("Final output:", result.final_output)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 Which agent finished the run</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print("Last agent:", result.last_agent.name)</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 Everything that happened during the run</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for item in result.new_items:</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print(f"  [{item.type}] {item}")</a:t>
            </a:r>
            <a:endParaRPr lang="en-US" sz="1000" dirty="0"/>
          </a:p>
        </p:txBody>
      </p:sp>
      <p:sp>
        <p:nvSpPr>
          <p:cNvPr id="8" name="Text 6"/>
          <p:cNvSpPr/>
          <p:nvPr/>
        </p:nvSpPr>
        <p:spPr>
          <a:xfrm>
            <a:off x="457200" y="4206240"/>
            <a:ext cx="6858000" cy="36576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What this prints</a:t>
            </a:r>
            <a:endParaRPr lang="en-US" sz="1400" dirty="0"/>
          </a:p>
        </p:txBody>
      </p:sp>
      <p:sp>
        <p:nvSpPr>
          <p:cNvPr id="9" name="Shape 7"/>
          <p:cNvSpPr/>
          <p:nvPr/>
        </p:nvSpPr>
        <p:spPr>
          <a:xfrm>
            <a:off x="457200" y="4572000"/>
            <a:ext cx="6858000" cy="1554480"/>
          </a:xfrm>
          <a:prstGeom prst="roundRect">
            <a:avLst>
              <a:gd name="adj" fmla="val 3529"/>
            </a:avLst>
          </a:prstGeom>
          <a:solidFill>
            <a:srgbClr val="F4F4F4"/>
          </a:solidFill>
          <a:ln w="6350">
            <a:solidFill>
              <a:srgbClr val="D9D2C5"/>
            </a:solidFill>
            <a:prstDash val="solid"/>
          </a:ln>
        </p:spPr>
      </p:sp>
      <p:sp>
        <p:nvSpPr>
          <p:cNvPr id="10" name="Text 8"/>
          <p:cNvSpPr/>
          <p:nvPr/>
        </p:nvSpPr>
        <p:spPr>
          <a:xfrm>
            <a:off x="594360" y="4663440"/>
            <a:ext cx="6583680" cy="137160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Final output: The weather in London is currently cloudy, 14C.</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Last agent: Weather Bot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[tool_call]     get_weather(city="London")</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[tool_output]   "Cloudy, 14C"</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[message]       The weather in London is currently cloudy...</a:t>
            </a:r>
            <a:endParaRPr lang="en-US" sz="1000" dirty="0"/>
          </a:p>
        </p:txBody>
      </p:sp>
      <p:sp>
        <p:nvSpPr>
          <p:cNvPr id="11" name="Shape 9"/>
          <p:cNvSpPr/>
          <p:nvPr/>
        </p:nvSpPr>
        <p:spPr>
          <a:xfrm>
            <a:off x="7772400" y="1371600"/>
            <a:ext cx="3931920" cy="4754880"/>
          </a:xfrm>
          <a:prstGeom prst="roundRect">
            <a:avLst>
              <a:gd name="adj" fmla="val 1860"/>
            </a:avLst>
          </a:prstGeom>
          <a:solidFill>
            <a:srgbClr val="1A2942"/>
          </a:solidFill>
          <a:ln/>
        </p:spPr>
      </p:sp>
      <p:sp>
        <p:nvSpPr>
          <p:cNvPr id="12" name="Text 10"/>
          <p:cNvSpPr/>
          <p:nvPr/>
        </p:nvSpPr>
        <p:spPr>
          <a:xfrm>
            <a:off x="7955280" y="1554480"/>
            <a:ext cx="3566160" cy="274320"/>
          </a:xfrm>
          <a:prstGeom prst="rect">
            <a:avLst/>
          </a:prstGeom>
          <a:noFill/>
          <a:ln/>
        </p:spPr>
        <p:txBody>
          <a:bodyPr wrap="square" lIns="0" tIns="0" rIns="0" bIns="0" rtlCol="0" anchor="ctr"/>
          <a:lstStyle/>
          <a:p>
            <a:pPr marL="0" indent="0">
              <a:buNone/>
            </a:pPr>
            <a:r>
              <a:rPr lang="en-US" sz="1000" b="1" kern="0" spc="300" dirty="0">
                <a:solidFill>
                  <a:srgbClr val="E8C5BB"/>
                </a:solidFill>
                <a:latin typeface="Calibri" pitchFamily="34" charset="0"/>
                <a:ea typeface="Calibri" pitchFamily="34" charset="-122"/>
                <a:cs typeface="Calibri" pitchFamily="34" charset="-120"/>
              </a:rPr>
              <a:t>WHY THIS MATTERS</a:t>
            </a:r>
            <a:endParaRPr lang="en-US" sz="1000" dirty="0"/>
          </a:p>
        </p:txBody>
      </p:sp>
      <p:sp>
        <p:nvSpPr>
          <p:cNvPr id="13" name="Text 11"/>
          <p:cNvSpPr/>
          <p:nvPr/>
        </p:nvSpPr>
        <p:spPr>
          <a:xfrm>
            <a:off x="7955280" y="1965960"/>
            <a:ext cx="3566160" cy="3840480"/>
          </a:xfrm>
          <a:prstGeom prst="rect">
            <a:avLst/>
          </a:prstGeom>
          <a:noFill/>
          <a:ln/>
        </p:spPr>
        <p:txBody>
          <a:bodyPr wrap="square" lIns="0" tIns="0" rIns="0" bIns="0" rtlCol="0" anchor="ctr"/>
          <a:lstStyle/>
          <a:p>
            <a:pPr marL="0" indent="0">
              <a:buNone/>
            </a:pPr>
            <a:r>
              <a:rPr lang="en-US" sz="1200" dirty="0">
                <a:solidFill>
                  <a:srgbClr val="E8C5BB"/>
                </a:solidFill>
                <a:latin typeface="Calibri" pitchFamily="34" charset="0"/>
                <a:ea typeface="Calibri" pitchFamily="34" charset="-122"/>
                <a:cs typeface="Calibri" pitchFamily="34" charset="-120"/>
              </a:rPr>
              <a:t>In production, your agent will do something weird at 2 AM.</a:t>
            </a:r>
            <a:endParaRPr lang="en-US" sz="1200" dirty="0"/>
          </a:p>
          <a:p>
            <a:pPr marL="0" indent="0">
              <a:buNone/>
            </a:pPr>
            <a:endParaRPr lang="en-US" sz="1200" dirty="0"/>
          </a:p>
          <a:p>
            <a:pPr marL="0" indent="0">
              <a:buNone/>
            </a:pPr>
            <a:r>
              <a:rPr lang="en-US" sz="1200" dirty="0">
                <a:solidFill>
                  <a:srgbClr val="E8C5BB"/>
                </a:solidFill>
                <a:latin typeface="Calibri" pitchFamily="34" charset="0"/>
                <a:ea typeface="Calibri" pitchFamily="34" charset="-122"/>
                <a:cs typeface="Calibri" pitchFamily="34" charset="-120"/>
              </a:rPr>
              <a:t>new_items is how you find out what happened.</a:t>
            </a:r>
            <a:endParaRPr lang="en-US" sz="1200" dirty="0"/>
          </a:p>
          <a:p>
            <a:pPr marL="0" indent="0">
              <a:buNone/>
            </a:pPr>
            <a:endParaRPr lang="en-US" sz="1200" dirty="0"/>
          </a:p>
          <a:p>
            <a:pPr marL="0" indent="0">
              <a:buNone/>
            </a:pPr>
            <a:r>
              <a:rPr lang="en-US" sz="1200" dirty="0">
                <a:solidFill>
                  <a:srgbClr val="E8C5BB"/>
                </a:solidFill>
                <a:latin typeface="Calibri" pitchFamily="34" charset="0"/>
                <a:ea typeface="Calibri" pitchFamily="34" charset="-122"/>
                <a:cs typeface="Calibri" pitchFamily="34" charset="-120"/>
              </a:rPr>
              <a:t>Every tool call, every tool result, every model message. The full trace.</a:t>
            </a:r>
            <a:endParaRPr lang="en-US" sz="1200" dirty="0"/>
          </a:p>
          <a:p>
            <a:pPr marL="0" indent="0">
              <a:buNone/>
            </a:pPr>
            <a:endParaRPr lang="en-US" sz="1200" dirty="0"/>
          </a:p>
          <a:p>
            <a:pPr marL="0" indent="0">
              <a:buNone/>
            </a:pPr>
            <a:r>
              <a:rPr lang="en-US" sz="1200" dirty="0">
                <a:solidFill>
                  <a:srgbClr val="E8C5BB"/>
                </a:solidFill>
                <a:latin typeface="Calibri" pitchFamily="34" charset="0"/>
                <a:ea typeface="Calibri" pitchFamily="34" charset="-122"/>
                <a:cs typeface="Calibri" pitchFamily="34" charset="-120"/>
              </a:rPr>
              <a:t>This is observability. We go deep on it in Week 7. For now, just know it's there.</a:t>
            </a:r>
            <a:endParaRPr lang="en-US" sz="1200" dirty="0"/>
          </a:p>
        </p:txBody>
      </p:sp>
      <p:sp>
        <p:nvSpPr>
          <p:cNvPr id="14" name="Text 12"/>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5" name="Text 13"/>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Using other models: Gemini</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Same Agent, same Runner, same tools. Different model underneath.</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457200" y="1371600"/>
            <a:ext cx="6858000" cy="320040"/>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CODE BLOCK 6 · GEMINI VIA OPENAI CHAT COMPLETIONS MODEL</a:t>
            </a:r>
            <a:endParaRPr lang="en-US" sz="1100" dirty="0"/>
          </a:p>
        </p:txBody>
      </p:sp>
      <p:sp>
        <p:nvSpPr>
          <p:cNvPr id="6" name="Shape 4"/>
          <p:cNvSpPr/>
          <p:nvPr/>
        </p:nvSpPr>
        <p:spPr>
          <a:xfrm>
            <a:off x="457200" y="1691640"/>
            <a:ext cx="6858000" cy="4846320"/>
          </a:xfrm>
          <a:prstGeom prst="roundRect">
            <a:avLst>
              <a:gd name="adj" fmla="val 1132"/>
            </a:avLst>
          </a:prstGeom>
          <a:solidFill>
            <a:srgbClr val="F4F4F4"/>
          </a:solidFill>
          <a:ln w="6350">
            <a:solidFill>
              <a:srgbClr val="D9D2C5"/>
            </a:solidFill>
            <a:prstDash val="solid"/>
          </a:ln>
        </p:spPr>
      </p:sp>
      <p:sp>
        <p:nvSpPr>
          <p:cNvPr id="7" name="Text 5"/>
          <p:cNvSpPr/>
          <p:nvPr/>
        </p:nvSpPr>
        <p:spPr>
          <a:xfrm>
            <a:off x="594360" y="1783080"/>
            <a:ext cx="6583680" cy="466344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import os</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from agents import Agent, Runner, AsyncOpenAI, OpenAIChatCompletionsModel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from agents.run import RunConfig</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from dotenv import load_dotenv</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load_dotenv()</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api_key = os.getenv("GEMINI_API_KEY")</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external_client = AsyncOpenAI(</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api_key=api_key,</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base_url="https://generativelanguage.googleapis.com/v1beta/openai/",</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model = OpenAIChatCompletionsModel(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model="gemini-2.5-flash",</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openai_client=external_client,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config = RunConfig(</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model=model,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model_provider=external_client,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tracing_disabled=True,</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agent = Agent(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name="GeminiAssistant",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instructions="You only respond in haikus.",</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model=model,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result = await Runner.run(agent, "Tell me about recursion.", run_config=config)</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print(result.final_output)</a:t>
            </a:r>
            <a:endParaRPr lang="en-US" sz="1000" dirty="0"/>
          </a:p>
        </p:txBody>
      </p:sp>
      <p:sp>
        <p:nvSpPr>
          <p:cNvPr id="8" name="Text 6"/>
          <p:cNvSpPr/>
          <p:nvPr/>
        </p:nvSpPr>
        <p:spPr>
          <a:xfrm>
            <a:off x="7772400" y="1371600"/>
            <a:ext cx="3931920" cy="36576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How this works</a:t>
            </a:r>
            <a:endParaRPr lang="en-US" sz="1400" dirty="0"/>
          </a:p>
        </p:txBody>
      </p:sp>
      <p:sp>
        <p:nvSpPr>
          <p:cNvPr id="9" name="Text 7"/>
          <p:cNvSpPr/>
          <p:nvPr/>
        </p:nvSpPr>
        <p:spPr>
          <a:xfrm>
            <a:off x="7772400" y="1874520"/>
            <a:ext cx="3931920" cy="32004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Gemini exposes an OpenAI-compatible endpoint at googleapis.com.</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We point AsyncOpenAI at that endpoint instead of OpenAI's servers.</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OpenAIChatCompletionsModel wraps it for the SDK.</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RunConfig passes the model + provider + disables OpenAI tracing.</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Everything else is identical. Same Agent. Same Runner. Same tools.</a:t>
            </a:r>
            <a:endParaRPr lang="en-US" sz="1100" dirty="0"/>
          </a:p>
        </p:txBody>
      </p:sp>
      <p:sp>
        <p:nvSpPr>
          <p:cNvPr id="10" name="Shape 8"/>
          <p:cNvSpPr/>
          <p:nvPr/>
        </p:nvSpPr>
        <p:spPr>
          <a:xfrm>
            <a:off x="7772400" y="5029200"/>
            <a:ext cx="3931920" cy="1005840"/>
          </a:xfrm>
          <a:prstGeom prst="roundRect">
            <a:avLst>
              <a:gd name="adj" fmla="val 5455"/>
            </a:avLst>
          </a:prstGeom>
          <a:solidFill>
            <a:srgbClr val="F7F5F1"/>
          </a:solidFill>
          <a:ln w="12700">
            <a:solidFill>
              <a:srgbClr val="D9D2C5"/>
            </a:solidFill>
            <a:prstDash val="solid"/>
          </a:ln>
        </p:spPr>
      </p:sp>
      <p:sp>
        <p:nvSpPr>
          <p:cNvPr id="11" name="Text 9"/>
          <p:cNvSpPr/>
          <p:nvPr/>
        </p:nvSpPr>
        <p:spPr>
          <a:xfrm>
            <a:off x="7955280" y="5120640"/>
            <a:ext cx="356616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NOT LOCKED IN</a:t>
            </a:r>
            <a:endParaRPr lang="en-US" sz="1000" dirty="0"/>
          </a:p>
        </p:txBody>
      </p:sp>
      <p:sp>
        <p:nvSpPr>
          <p:cNvPr id="12" name="Text 10"/>
          <p:cNvSpPr/>
          <p:nvPr/>
        </p:nvSpPr>
        <p:spPr>
          <a:xfrm>
            <a:off x="7955280" y="5440680"/>
            <a:ext cx="3566160" cy="5486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Your agents aren't locked to OpenAI. In production you might use GPT for orchestration and Gemini for cheap classification.</a:t>
            </a:r>
            <a:endParaRPr lang="en-US" sz="1000" dirty="0"/>
          </a:p>
        </p:txBody>
      </p:sp>
      <p:sp>
        <p:nvSpPr>
          <p:cNvPr id="13" name="Text 11"/>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4" name="Text 12"/>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Agent configuration: ModelSettings + output_type</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Control how the model behaves and what it returns.</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Text 3"/>
          <p:cNvSpPr/>
          <p:nvPr/>
        </p:nvSpPr>
        <p:spPr>
          <a:xfrm>
            <a:off x="457200" y="1371600"/>
            <a:ext cx="5486400" cy="320040"/>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MODEL SETTINGS</a:t>
            </a:r>
            <a:endParaRPr lang="en-US" sz="1100" dirty="0"/>
          </a:p>
        </p:txBody>
      </p:sp>
      <p:sp>
        <p:nvSpPr>
          <p:cNvPr id="6" name="Shape 4"/>
          <p:cNvSpPr/>
          <p:nvPr/>
        </p:nvSpPr>
        <p:spPr>
          <a:xfrm>
            <a:off x="457200" y="1691640"/>
            <a:ext cx="5486400" cy="2194560"/>
          </a:xfrm>
          <a:prstGeom prst="roundRect">
            <a:avLst>
              <a:gd name="adj" fmla="val 2500"/>
            </a:avLst>
          </a:prstGeom>
          <a:solidFill>
            <a:srgbClr val="F4F4F4"/>
          </a:solidFill>
          <a:ln w="6350">
            <a:solidFill>
              <a:srgbClr val="D9D2C5"/>
            </a:solidFill>
            <a:prstDash val="solid"/>
          </a:ln>
        </p:spPr>
      </p:sp>
      <p:sp>
        <p:nvSpPr>
          <p:cNvPr id="7" name="Text 5"/>
          <p:cNvSpPr/>
          <p:nvPr/>
        </p:nvSpPr>
        <p:spPr>
          <a:xfrm>
            <a:off x="594360" y="1783080"/>
            <a:ext cx="5212080" cy="201168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from agents import Agent, ModelSettings</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agent = Agent(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name="Classifier",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instructions="Classify customer intent.",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model="gpt-4o-mini",</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model_settings=ModelSettings(</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temperature=0,   # deterministic</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p:txBody>
      </p:sp>
      <p:sp>
        <p:nvSpPr>
          <p:cNvPr id="8" name="Text 6"/>
          <p:cNvSpPr/>
          <p:nvPr/>
        </p:nvSpPr>
        <p:spPr>
          <a:xfrm>
            <a:off x="6400800" y="1371600"/>
            <a:ext cx="5303520" cy="36576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What you can control</a:t>
            </a:r>
            <a:endParaRPr lang="en-US" sz="1400" dirty="0"/>
          </a:p>
        </p:txBody>
      </p:sp>
      <p:sp>
        <p:nvSpPr>
          <p:cNvPr id="9" name="Text 7"/>
          <p:cNvSpPr/>
          <p:nvPr/>
        </p:nvSpPr>
        <p:spPr>
          <a:xfrm>
            <a:off x="6400800" y="1828800"/>
            <a:ext cx="5303520" cy="18288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temperature — randomness (0 = deterministic)</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max_tokens — cap on output length</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top_p — nucleus sampling</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tool_choice — auto, required, or a specific tool name</a:t>
            </a:r>
            <a:endParaRPr lang="en-US" sz="1200" dirty="0"/>
          </a:p>
        </p:txBody>
      </p:sp>
      <p:sp>
        <p:nvSpPr>
          <p:cNvPr id="10" name="Text 8"/>
          <p:cNvSpPr/>
          <p:nvPr/>
        </p:nvSpPr>
        <p:spPr>
          <a:xfrm>
            <a:off x="457200" y="3931920"/>
            <a:ext cx="5486400" cy="320040"/>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OUTPUT TYPE — STRUCTURED AGENT OUTPUT</a:t>
            </a:r>
            <a:endParaRPr lang="en-US" sz="1100" dirty="0"/>
          </a:p>
        </p:txBody>
      </p:sp>
      <p:sp>
        <p:nvSpPr>
          <p:cNvPr id="11" name="Shape 9"/>
          <p:cNvSpPr/>
          <p:nvPr/>
        </p:nvSpPr>
        <p:spPr>
          <a:xfrm>
            <a:off x="457200" y="4251960"/>
            <a:ext cx="5486400" cy="2377440"/>
          </a:xfrm>
          <a:prstGeom prst="roundRect">
            <a:avLst>
              <a:gd name="adj" fmla="val 2308"/>
            </a:avLst>
          </a:prstGeom>
          <a:solidFill>
            <a:srgbClr val="F4F4F4"/>
          </a:solidFill>
          <a:ln w="6350">
            <a:solidFill>
              <a:srgbClr val="D9D2C5"/>
            </a:solidFill>
            <a:prstDash val="solid"/>
          </a:ln>
        </p:spPr>
      </p:sp>
      <p:sp>
        <p:nvSpPr>
          <p:cNvPr id="12" name="Text 10"/>
          <p:cNvSpPr/>
          <p:nvPr/>
        </p:nvSpPr>
        <p:spPr>
          <a:xfrm>
            <a:off x="594360" y="4343400"/>
            <a:ext cx="5212080" cy="2194560"/>
          </a:xfrm>
          <a:prstGeom prst="rect">
            <a:avLst/>
          </a:prstGeom>
          <a:noFill/>
          <a:ln/>
        </p:spPr>
        <p:txBody>
          <a:bodyPr wrap="square" lIns="0" tIns="0" rIns="0" bIns="0" rtlCol="0" anchor="t"/>
          <a:lstStyle/>
          <a:p>
            <a:pPr marL="0" indent="0">
              <a:buNone/>
            </a:pPr>
            <a:r>
              <a:rPr lang="en-US" sz="1000" dirty="0">
                <a:solidFill>
                  <a:srgbClr val="1F2937"/>
                </a:solidFill>
                <a:latin typeface="Courier New" pitchFamily="34" charset="0"/>
                <a:ea typeface="Courier New" pitchFamily="34" charset="-122"/>
                <a:cs typeface="Courier New" pitchFamily="34" charset="-120"/>
              </a:rPr>
              <a:t>from pydantic import BaseModel</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class WeatherReport(BaseModel):</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city: str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temperature: str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conditions: str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recommendation: str</a:t>
            </a:r>
            <a:endParaRPr lang="en-US" sz="1000" dirty="0"/>
          </a:p>
          <a:p>
            <a:pPr marL="0" indent="0">
              <a:buNone/>
            </a:pP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agent = Agent(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name="Weather Reporter",</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instructions="Provide weather reports.",</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    output_type=WeatherReport,  # forces structured output</a:t>
            </a:r>
            <a:endParaRPr lang="en-US" sz="1000" dirty="0"/>
          </a:p>
          <a:p>
            <a:pPr marL="0" indent="0">
              <a:buNone/>
            </a:pPr>
            <a:r>
              <a:rPr lang="en-US" sz="1000" dirty="0">
                <a:solidFill>
                  <a:srgbClr val="1F2937"/>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6400800" y="4114800"/>
            <a:ext cx="5303520" cy="1828800"/>
          </a:xfrm>
          <a:prstGeom prst="roundRect">
            <a:avLst>
              <a:gd name="adj" fmla="val 4000"/>
            </a:avLst>
          </a:prstGeom>
          <a:solidFill>
            <a:srgbClr val="1A2942"/>
          </a:solidFill>
          <a:ln/>
        </p:spPr>
      </p:sp>
      <p:sp>
        <p:nvSpPr>
          <p:cNvPr id="14" name="Text 12"/>
          <p:cNvSpPr/>
          <p:nvPr/>
        </p:nvSpPr>
        <p:spPr>
          <a:xfrm>
            <a:off x="6583680" y="4251960"/>
            <a:ext cx="4937760" cy="274320"/>
          </a:xfrm>
          <a:prstGeom prst="rect">
            <a:avLst/>
          </a:prstGeom>
          <a:noFill/>
          <a:ln/>
        </p:spPr>
        <p:txBody>
          <a:bodyPr wrap="square" lIns="0" tIns="0" rIns="0" bIns="0" rtlCol="0" anchor="ctr"/>
          <a:lstStyle/>
          <a:p>
            <a:pPr marL="0" indent="0">
              <a:buNone/>
            </a:pPr>
            <a:r>
              <a:rPr lang="en-US" sz="1000" b="1" kern="0" spc="300" dirty="0">
                <a:solidFill>
                  <a:srgbClr val="E8C5BB"/>
                </a:solidFill>
                <a:latin typeface="Calibri" pitchFamily="34" charset="0"/>
                <a:ea typeface="Calibri" pitchFamily="34" charset="-122"/>
                <a:cs typeface="Calibri" pitchFamily="34" charset="-120"/>
              </a:rPr>
              <a:t>CONNECTION TO SESSION 1</a:t>
            </a:r>
            <a:endParaRPr lang="en-US" sz="1000" dirty="0"/>
          </a:p>
        </p:txBody>
      </p:sp>
      <p:sp>
        <p:nvSpPr>
          <p:cNvPr id="15" name="Text 13"/>
          <p:cNvSpPr/>
          <p:nvPr/>
        </p:nvSpPr>
        <p:spPr>
          <a:xfrm>
            <a:off x="6583680" y="4617720"/>
            <a:ext cx="4937760" cy="1280160"/>
          </a:xfrm>
          <a:prstGeom prst="rect">
            <a:avLst/>
          </a:prstGeom>
          <a:noFill/>
          <a:ln/>
        </p:spPr>
        <p:txBody>
          <a:bodyPr wrap="square" lIns="0" tIns="0" rIns="0" bIns="0" rtlCol="0" anchor="ctr"/>
          <a:lstStyle/>
          <a:p>
            <a:pPr marL="0" indent="0">
              <a:buNone/>
            </a:pPr>
            <a:r>
              <a:rPr lang="en-US" sz="1100" dirty="0">
                <a:solidFill>
                  <a:srgbClr val="E8C5BB"/>
                </a:solidFill>
                <a:latin typeface="Calibri" pitchFamily="34" charset="0"/>
                <a:ea typeface="Calibri" pitchFamily="34" charset="-122"/>
                <a:cs typeface="Calibri" pitchFamily="34" charset="-120"/>
              </a:rPr>
              <a:t>output_type is the agent-level version of response_format from Session 1.</a:t>
            </a:r>
            <a:endParaRPr lang="en-US" sz="1100" dirty="0"/>
          </a:p>
          <a:p>
            <a:pPr marL="0" indent="0">
              <a:buNone/>
            </a:pPr>
            <a:endParaRPr lang="en-US" sz="1100" dirty="0"/>
          </a:p>
          <a:p>
            <a:pPr marL="0" indent="0">
              <a:buNone/>
            </a:pPr>
            <a:r>
              <a:rPr lang="en-US" sz="1100" dirty="0">
                <a:solidFill>
                  <a:srgbClr val="E8C5BB"/>
                </a:solidFill>
                <a:latin typeface="Calibri" pitchFamily="34" charset="0"/>
                <a:ea typeface="Calibri" pitchFamily="34" charset="-122"/>
                <a:cs typeface="Calibri" pitchFamily="34" charset="-120"/>
              </a:rPr>
              <a:t>The loop keeps running until the model produces something matching this Pydantic schema. Same concept, now wired into the agent loop.</a:t>
            </a:r>
            <a:endParaRPr lang="en-US" sz="1100" dirty="0"/>
          </a:p>
        </p:txBody>
      </p:sp>
      <p:sp>
        <p:nvSpPr>
          <p:cNvPr id="16" name="Text 1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7" name="Text 1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This week's mini project</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Build a personal assistant agent. Real persistence</a:t>
            </a:r>
            <a:r>
              <a:rPr lang="en-US" sz="1300" i="1" dirty="0" smtClean="0">
                <a:solidFill>
                  <a:srgbClr val="64748B"/>
                </a:solidFill>
                <a:latin typeface="Calibri" pitchFamily="34" charset="0"/>
                <a:ea typeface="Calibri" pitchFamily="34" charset="-122"/>
                <a:cs typeface="Calibri" pitchFamily="34" charset="-120"/>
              </a:rPr>
              <a:t>.</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Shape 3"/>
          <p:cNvSpPr/>
          <p:nvPr/>
        </p:nvSpPr>
        <p:spPr>
          <a:xfrm>
            <a:off x="457200" y="1554480"/>
            <a:ext cx="7132320" cy="4572000"/>
          </a:xfrm>
          <a:prstGeom prst="roundRect">
            <a:avLst>
              <a:gd name="adj" fmla="val 2000"/>
            </a:avLst>
          </a:prstGeom>
          <a:solidFill>
            <a:srgbClr val="F7F5F1"/>
          </a:solidFill>
          <a:ln w="12700">
            <a:solidFill>
              <a:srgbClr val="D9D2C5"/>
            </a:solidFill>
            <a:prstDash val="solid"/>
          </a:ln>
        </p:spPr>
      </p:sp>
      <p:sp>
        <p:nvSpPr>
          <p:cNvPr id="6" name="Text 4"/>
          <p:cNvSpPr/>
          <p:nvPr/>
        </p:nvSpPr>
        <p:spPr>
          <a:xfrm>
            <a:off x="731520" y="1737360"/>
            <a:ext cx="6400800" cy="320040"/>
          </a:xfrm>
          <a:prstGeom prst="rect">
            <a:avLst/>
          </a:prstGeom>
          <a:noFill/>
          <a:ln/>
        </p:spPr>
        <p:txBody>
          <a:bodyPr wrap="square" lIns="0" tIns="0" rIns="0" bIns="0" rtlCol="0" anchor="ctr"/>
          <a:lstStyle/>
          <a:p>
            <a:pPr marL="0" indent="0">
              <a:buNone/>
            </a:pPr>
            <a:r>
              <a:rPr lang="en-US" sz="1100" b="1" kern="0" spc="400" dirty="0">
                <a:solidFill>
                  <a:srgbClr val="B85042"/>
                </a:solidFill>
                <a:latin typeface="Calibri" pitchFamily="34" charset="0"/>
                <a:ea typeface="Calibri" pitchFamily="34" charset="-122"/>
                <a:cs typeface="Calibri" pitchFamily="34" charset="-120"/>
              </a:rPr>
              <a:t>THE TASK</a:t>
            </a:r>
            <a:endParaRPr lang="en-US" sz="1100" dirty="0"/>
          </a:p>
        </p:txBody>
      </p:sp>
      <p:sp>
        <p:nvSpPr>
          <p:cNvPr id="7" name="Text 5"/>
          <p:cNvSpPr/>
          <p:nvPr/>
        </p:nvSpPr>
        <p:spPr>
          <a:xfrm>
            <a:off x="731520" y="2103120"/>
            <a:ext cx="6400800" cy="54864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Personal assistant with 5 tools and real state.</a:t>
            </a:r>
            <a:endParaRPr lang="en-US" sz="1800" dirty="0"/>
          </a:p>
        </p:txBody>
      </p:sp>
      <p:sp>
        <p:nvSpPr>
          <p:cNvPr id="8" name="Text 6"/>
          <p:cNvSpPr/>
          <p:nvPr/>
        </p:nvSpPr>
        <p:spPr>
          <a:xfrm>
            <a:off x="731520" y="2743200"/>
            <a:ext cx="64008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TOOLS TO BUILD:</a:t>
            </a:r>
            <a:endParaRPr lang="en-US" sz="1000" dirty="0"/>
          </a:p>
        </p:txBody>
      </p:sp>
      <p:sp>
        <p:nvSpPr>
          <p:cNvPr id="9" name="Text 7"/>
          <p:cNvSpPr/>
          <p:nvPr/>
        </p:nvSpPr>
        <p:spPr>
          <a:xfrm>
            <a:off x="914400" y="3063240"/>
            <a:ext cx="6400800" cy="18288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get_weather(city) — returns mock weather data</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get_time(city) — returns mock local time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save_note(content) — saves to a local JSON file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list_notes() — reads all notes from JSON</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search_notes(query) — keyword search through notes</a:t>
            </a:r>
            <a:endParaRPr lang="en-US" sz="1200" dirty="0"/>
          </a:p>
        </p:txBody>
      </p:sp>
      <p:sp>
        <p:nvSpPr>
          <p:cNvPr id="10" name="Text 8"/>
          <p:cNvSpPr/>
          <p:nvPr/>
        </p:nvSpPr>
        <p:spPr>
          <a:xfrm>
            <a:off x="731520" y="4846320"/>
            <a:ext cx="64008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REQUIREMENTS:</a:t>
            </a:r>
            <a:endParaRPr lang="en-US" sz="1000" dirty="0"/>
          </a:p>
        </p:txBody>
      </p:sp>
      <p:sp>
        <p:nvSpPr>
          <p:cNvPr id="11" name="Text 9"/>
          <p:cNvSpPr/>
          <p:nvPr/>
        </p:nvSpPr>
        <p:spPr>
          <a:xfrm>
            <a:off x="914400" y="5074920"/>
            <a:ext cx="6400800" cy="914400"/>
          </a:xfrm>
          <a:prstGeom prst="rect">
            <a:avLst/>
          </a:prstGeom>
          <a:noFill/>
          <a:ln/>
        </p:spPr>
        <p:txBody>
          <a:bodyPr wrap="square" lIns="0" tIns="0" rIns="0" bIns="0" rtlCol="0" anchor="ctr"/>
          <a:lstStyle/>
          <a:p>
            <a:pPr marL="342900" indent="-342900">
              <a:spcAft>
                <a:spcPts val="200"/>
              </a:spcAft>
              <a:buSzPct val="100000"/>
              <a:buChar char="▪"/>
            </a:pPr>
            <a:r>
              <a:rPr lang="en-US" sz="1100" dirty="0" smtClean="0">
                <a:solidFill>
                  <a:srgbClr val="1F2937"/>
                </a:solidFill>
                <a:latin typeface="Calibri" pitchFamily="34" charset="0"/>
                <a:ea typeface="Calibri" pitchFamily="34" charset="-122"/>
                <a:cs typeface="Calibri" pitchFamily="34" charset="-120"/>
              </a:rPr>
              <a:t>Use </a:t>
            </a:r>
            <a:r>
              <a:rPr lang="en-US" sz="1100" dirty="0">
                <a:solidFill>
                  <a:srgbClr val="1F2937"/>
                </a:solidFill>
                <a:latin typeface="Calibri" pitchFamily="34" charset="0"/>
                <a:ea typeface="Calibri" pitchFamily="34" charset="-122"/>
                <a:cs typeface="Calibri" pitchFamily="34" charset="-120"/>
              </a:rPr>
              <a:t>output_type on at least one agent variant.</a:t>
            </a:r>
            <a:endParaRPr lang="en-US" sz="1100" dirty="0"/>
          </a:p>
          <a:p>
            <a:pPr marL="342900" indent="-342900">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Test with 10 different conversation flows.</a:t>
            </a:r>
            <a:endParaRPr lang="en-US" sz="1100" dirty="0"/>
          </a:p>
          <a:p>
            <a:pPr marL="342900" indent="-342900">
              <a:spcAft>
                <a:spcPts val="200"/>
              </a:spcAft>
              <a:buSzPct val="100000"/>
              <a:buChar char="▪"/>
            </a:pPr>
            <a:r>
              <a:rPr lang="en-US" sz="1100" dirty="0">
                <a:solidFill>
                  <a:srgbClr val="1F2937"/>
                </a:solidFill>
                <a:latin typeface="Calibri" pitchFamily="34" charset="0"/>
                <a:ea typeface="Calibri" pitchFamily="34" charset="-122"/>
                <a:cs typeface="Calibri" pitchFamily="34" charset="-120"/>
              </a:rPr>
              <a:t>Note 3 things the agent got wrong or did unexpectedly.</a:t>
            </a:r>
            <a:endParaRPr lang="en-US" sz="1100" dirty="0"/>
          </a:p>
        </p:txBody>
      </p:sp>
      <p:sp>
        <p:nvSpPr>
          <p:cNvPr id="12" name="Shape 10"/>
          <p:cNvSpPr/>
          <p:nvPr/>
        </p:nvSpPr>
        <p:spPr>
          <a:xfrm>
            <a:off x="7955280" y="1554480"/>
            <a:ext cx="3749040" cy="4572000"/>
          </a:xfrm>
          <a:prstGeom prst="roundRect">
            <a:avLst>
              <a:gd name="adj" fmla="val 2439"/>
            </a:avLst>
          </a:prstGeom>
          <a:solidFill>
            <a:srgbClr val="1A2942"/>
          </a:solidFill>
          <a:ln/>
        </p:spPr>
      </p:sp>
      <p:sp>
        <p:nvSpPr>
          <p:cNvPr id="13" name="Text 11"/>
          <p:cNvSpPr/>
          <p:nvPr/>
        </p:nvSpPr>
        <p:spPr>
          <a:xfrm>
            <a:off x="8229600" y="1737360"/>
            <a:ext cx="3291840" cy="274320"/>
          </a:xfrm>
          <a:prstGeom prst="rect">
            <a:avLst/>
          </a:prstGeom>
          <a:noFill/>
          <a:ln/>
        </p:spPr>
        <p:txBody>
          <a:bodyPr wrap="square" lIns="0" tIns="0" rIns="0" bIns="0" rtlCol="0" anchor="ctr"/>
          <a:lstStyle/>
          <a:p>
            <a:pPr marL="0" indent="0">
              <a:buNone/>
            </a:pPr>
            <a:r>
              <a:rPr lang="en-US" sz="1100" b="1" kern="0" spc="400" dirty="0">
                <a:solidFill>
                  <a:srgbClr val="E8C5BB"/>
                </a:solidFill>
                <a:latin typeface="Calibri" pitchFamily="34" charset="0"/>
                <a:ea typeface="Calibri" pitchFamily="34" charset="-122"/>
                <a:cs typeface="Calibri" pitchFamily="34" charset="-120"/>
              </a:rPr>
              <a:t>STRETCH</a:t>
            </a:r>
            <a:endParaRPr lang="en-US" sz="1100" dirty="0"/>
          </a:p>
        </p:txBody>
      </p:sp>
      <p:sp>
        <p:nvSpPr>
          <p:cNvPr id="14" name="Text 12"/>
          <p:cNvSpPr/>
          <p:nvPr/>
        </p:nvSpPr>
        <p:spPr>
          <a:xfrm>
            <a:off x="8229600" y="2103120"/>
            <a:ext cx="329184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If you finish early</a:t>
            </a:r>
            <a:endParaRPr lang="en-US" sz="1600" dirty="0"/>
          </a:p>
        </p:txBody>
      </p:sp>
      <p:sp>
        <p:nvSpPr>
          <p:cNvPr id="15" name="Text 13"/>
          <p:cNvSpPr/>
          <p:nvPr/>
        </p:nvSpPr>
        <p:spPr>
          <a:xfrm>
            <a:off x="8412480" y="2743200"/>
            <a:ext cx="3108960" cy="32004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E8C5BB"/>
                </a:solidFill>
                <a:latin typeface="Calibri" pitchFamily="34" charset="0"/>
                <a:ea typeface="Calibri" pitchFamily="34" charset="-122"/>
                <a:cs typeface="Calibri" pitchFamily="34" charset="-120"/>
              </a:rPr>
              <a:t>Add a second agent with different instructions and tools. Run both in the same script.</a:t>
            </a:r>
            <a:endParaRPr lang="en-US" sz="1100" dirty="0"/>
          </a:p>
          <a:p>
            <a:pPr marL="342900" indent="-342900">
              <a:spcAft>
                <a:spcPts val="800"/>
              </a:spcAft>
              <a:buSzPct val="100000"/>
              <a:buChar char="▪"/>
            </a:pPr>
            <a:r>
              <a:rPr lang="en-US" sz="1100" dirty="0">
                <a:solidFill>
                  <a:srgbClr val="E8C5BB"/>
                </a:solidFill>
                <a:latin typeface="Calibri" pitchFamily="34" charset="0"/>
                <a:ea typeface="Calibri" pitchFamily="34" charset="-122"/>
                <a:cs typeface="Calibri" pitchFamily="34" charset="-120"/>
              </a:rPr>
              <a:t>Swap the model to Gemini via the config pattern from slide 10. Note any behaviour differences.</a:t>
            </a:r>
            <a:endParaRPr lang="en-US" sz="1100" dirty="0"/>
          </a:p>
          <a:p>
            <a:pPr marL="342900" indent="-342900">
              <a:spcAft>
                <a:spcPts val="800"/>
              </a:spcAft>
              <a:buSzPct val="100000"/>
              <a:buChar char="▪"/>
            </a:pPr>
            <a:r>
              <a:rPr lang="en-US" sz="1100" dirty="0">
                <a:solidFill>
                  <a:srgbClr val="E8C5BB"/>
                </a:solidFill>
                <a:latin typeface="Calibri" pitchFamily="34" charset="0"/>
                <a:ea typeface="Calibri" pitchFamily="34" charset="-122"/>
                <a:cs typeface="Calibri" pitchFamily="34" charset="-120"/>
              </a:rPr>
              <a:t>Add a delete_note(index) tool. Test what happens when the model passes an invalid index.</a:t>
            </a:r>
            <a:endParaRPr lang="en-US" sz="1100" dirty="0"/>
          </a:p>
        </p:txBody>
      </p:sp>
      <p:sp>
        <p:nvSpPr>
          <p:cNvPr id="16" name="Text 1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7" name="Text 1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A2942"/>
                </a:solidFill>
                <a:latin typeface="Cambria" pitchFamily="34" charset="0"/>
                <a:ea typeface="Cambria" pitchFamily="34" charset="-122"/>
                <a:cs typeface="Cambria" pitchFamily="34" charset="-120"/>
              </a:rPr>
              <a:t>Next session</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Where we go from here.</a:t>
            </a:r>
            <a:endParaRPr lang="en-US" sz="1300" dirty="0"/>
          </a:p>
        </p:txBody>
      </p:sp>
      <p:sp>
        <p:nvSpPr>
          <p:cNvPr id="4" name="Shape 2"/>
          <p:cNvSpPr/>
          <p:nvPr/>
        </p:nvSpPr>
        <p:spPr>
          <a:xfrm>
            <a:off x="11567160" y="411480"/>
            <a:ext cx="164592" cy="164592"/>
          </a:xfrm>
          <a:prstGeom prst="ellipse">
            <a:avLst/>
          </a:prstGeom>
          <a:solidFill>
            <a:srgbClr val="B85042"/>
          </a:solidFill>
          <a:ln/>
        </p:spPr>
      </p:sp>
      <p:sp>
        <p:nvSpPr>
          <p:cNvPr id="5" name="Shape 3"/>
          <p:cNvSpPr/>
          <p:nvPr/>
        </p:nvSpPr>
        <p:spPr>
          <a:xfrm>
            <a:off x="457200" y="1554480"/>
            <a:ext cx="11247120" cy="4114800"/>
          </a:xfrm>
          <a:prstGeom prst="roundRect">
            <a:avLst>
              <a:gd name="adj" fmla="val 2222"/>
            </a:avLst>
          </a:prstGeom>
          <a:solidFill>
            <a:srgbClr val="F7F5F1"/>
          </a:solidFill>
          <a:ln w="12700">
            <a:solidFill>
              <a:srgbClr val="D9D2C5"/>
            </a:solidFill>
            <a:prstDash val="solid"/>
          </a:ln>
        </p:spPr>
      </p:sp>
      <p:sp>
        <p:nvSpPr>
          <p:cNvPr id="6" name="Text 4"/>
          <p:cNvSpPr/>
          <p:nvPr/>
        </p:nvSpPr>
        <p:spPr>
          <a:xfrm>
            <a:off x="822960" y="1828800"/>
            <a:ext cx="10058400" cy="320040"/>
          </a:xfrm>
          <a:prstGeom prst="rect">
            <a:avLst/>
          </a:prstGeom>
          <a:noFill/>
          <a:ln/>
        </p:spPr>
        <p:txBody>
          <a:bodyPr wrap="square" lIns="0" tIns="0" rIns="0" bIns="0" rtlCol="0" anchor="ctr"/>
          <a:lstStyle/>
          <a:p>
            <a:pPr marL="0" indent="0">
              <a:buNone/>
            </a:pPr>
            <a:r>
              <a:rPr lang="en-US" sz="1200" b="1" kern="0" spc="400" dirty="0">
                <a:solidFill>
                  <a:srgbClr val="B85042"/>
                </a:solidFill>
                <a:latin typeface="Calibri" pitchFamily="34" charset="0"/>
                <a:ea typeface="Calibri" pitchFamily="34" charset="-122"/>
                <a:cs typeface="Calibri" pitchFamily="34" charset="-120"/>
              </a:rPr>
              <a:t>SESSION 3</a:t>
            </a:r>
            <a:endParaRPr lang="en-US" sz="1200" dirty="0"/>
          </a:p>
        </p:txBody>
      </p:sp>
      <p:sp>
        <p:nvSpPr>
          <p:cNvPr id="7" name="Text 5"/>
          <p:cNvSpPr/>
          <p:nvPr/>
        </p:nvSpPr>
        <p:spPr>
          <a:xfrm>
            <a:off x="822960" y="2286000"/>
            <a:ext cx="10058400" cy="822960"/>
          </a:xfrm>
          <a:prstGeom prst="rect">
            <a:avLst/>
          </a:prstGeom>
          <a:noFill/>
          <a:ln/>
        </p:spPr>
        <p:txBody>
          <a:bodyPr wrap="square" lIns="0" tIns="0" rIns="0" bIns="0" rtlCol="0" anchor="ctr"/>
          <a:lstStyle/>
          <a:p>
            <a:pPr marL="0" indent="0">
              <a:buNone/>
            </a:pPr>
            <a:r>
              <a:rPr lang="en-US" sz="3600" b="1" dirty="0">
                <a:solidFill>
                  <a:srgbClr val="1F2937"/>
                </a:solidFill>
                <a:latin typeface="Cambria" pitchFamily="34" charset="0"/>
                <a:ea typeface="Cambria" pitchFamily="34" charset="-122"/>
                <a:cs typeface="Cambria" pitchFamily="34" charset="-120"/>
              </a:rPr>
              <a:t>Memory, State, and FastAPI</a:t>
            </a:r>
            <a:endParaRPr lang="en-US" sz="3600" dirty="0"/>
          </a:p>
        </p:txBody>
      </p:sp>
      <p:sp>
        <p:nvSpPr>
          <p:cNvPr id="8" name="Text 6"/>
          <p:cNvSpPr/>
          <p:nvPr/>
        </p:nvSpPr>
        <p:spPr>
          <a:xfrm>
            <a:off x="822960" y="3291840"/>
            <a:ext cx="10058400" cy="914400"/>
          </a:xfrm>
          <a:prstGeom prst="rect">
            <a:avLst/>
          </a:prstGeom>
          <a:noFill/>
          <a:ln/>
        </p:spPr>
        <p:txBody>
          <a:bodyPr wrap="square" lIns="0" tIns="0" rIns="0" bIns="0" rtlCol="0" anchor="ctr"/>
          <a:lstStyle/>
          <a:p>
            <a:pPr marL="0" indent="0">
              <a:buNone/>
            </a:pPr>
            <a:r>
              <a:rPr lang="en-US" sz="1500" i="1" dirty="0">
                <a:solidFill>
                  <a:srgbClr val="64748B"/>
                </a:solidFill>
                <a:latin typeface="Calibri" pitchFamily="34" charset="0"/>
                <a:ea typeface="Calibri" pitchFamily="34" charset="-122"/>
                <a:cs typeface="Calibri" pitchFamily="34" charset="-120"/>
              </a:rPr>
              <a:t>Your personal assistant agent becomes a real service. We add persistent memory, conversation management, and expose it via FastAPI. The agent goes from a script to something a user can talk to.</a:t>
            </a:r>
            <a:endParaRPr lang="en-US" sz="1500" dirty="0"/>
          </a:p>
        </p:txBody>
      </p:sp>
      <p:sp>
        <p:nvSpPr>
          <p:cNvPr id="9" name="Text 7"/>
          <p:cNvSpPr/>
          <p:nvPr/>
        </p:nvSpPr>
        <p:spPr>
          <a:xfrm>
            <a:off x="822960" y="4480560"/>
            <a:ext cx="548640" cy="457200"/>
          </a:xfrm>
          <a:prstGeom prst="rect">
            <a:avLst/>
          </a:prstGeom>
          <a:noFill/>
          <a:ln/>
        </p:spPr>
        <p:txBody>
          <a:bodyPr wrap="square" lIns="0" tIns="0" rIns="0" bIns="0" rtlCol="0" anchor="ctr"/>
          <a:lstStyle/>
          <a:p>
            <a:pPr marL="0" indent="0">
              <a:buNone/>
            </a:pPr>
            <a:r>
              <a:rPr lang="en-US" sz="1800" b="1" dirty="0">
                <a:solidFill>
                  <a:srgbClr val="B85042"/>
                </a:solidFill>
                <a:latin typeface="Cambria" pitchFamily="34" charset="0"/>
                <a:ea typeface="Cambria" pitchFamily="34" charset="-122"/>
                <a:cs typeface="Cambria" pitchFamily="34" charset="-120"/>
              </a:rPr>
              <a:t>01</a:t>
            </a:r>
            <a:endParaRPr lang="en-US" sz="1800" dirty="0"/>
          </a:p>
        </p:txBody>
      </p:sp>
      <p:sp>
        <p:nvSpPr>
          <p:cNvPr id="10" name="Text 8"/>
          <p:cNvSpPr/>
          <p:nvPr/>
        </p:nvSpPr>
        <p:spPr>
          <a:xfrm>
            <a:off x="1417320" y="4526280"/>
            <a:ext cx="2743200" cy="73152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Persistent memory with Postgres</a:t>
            </a:r>
            <a:endParaRPr lang="en-US" sz="1200" dirty="0"/>
          </a:p>
        </p:txBody>
      </p:sp>
      <p:sp>
        <p:nvSpPr>
          <p:cNvPr id="11" name="Text 9"/>
          <p:cNvSpPr/>
          <p:nvPr/>
        </p:nvSpPr>
        <p:spPr>
          <a:xfrm>
            <a:off x="4297680" y="4480560"/>
            <a:ext cx="548640" cy="457200"/>
          </a:xfrm>
          <a:prstGeom prst="rect">
            <a:avLst/>
          </a:prstGeom>
          <a:noFill/>
          <a:ln/>
        </p:spPr>
        <p:txBody>
          <a:bodyPr wrap="square" lIns="0" tIns="0" rIns="0" bIns="0" rtlCol="0" anchor="ctr"/>
          <a:lstStyle/>
          <a:p>
            <a:pPr marL="0" indent="0">
              <a:buNone/>
            </a:pPr>
            <a:r>
              <a:rPr lang="en-US" sz="1800" b="1" dirty="0">
                <a:solidFill>
                  <a:srgbClr val="B85042"/>
                </a:solidFill>
                <a:latin typeface="Cambria" pitchFamily="34" charset="0"/>
                <a:ea typeface="Cambria" pitchFamily="34" charset="-122"/>
                <a:cs typeface="Cambria" pitchFamily="34" charset="-120"/>
              </a:rPr>
              <a:t>02</a:t>
            </a:r>
            <a:endParaRPr lang="en-US" sz="1800" dirty="0"/>
          </a:p>
        </p:txBody>
      </p:sp>
      <p:sp>
        <p:nvSpPr>
          <p:cNvPr id="12" name="Text 10"/>
          <p:cNvSpPr/>
          <p:nvPr/>
        </p:nvSpPr>
        <p:spPr>
          <a:xfrm>
            <a:off x="4892040" y="4526280"/>
            <a:ext cx="2743200" cy="73152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Conversation history management</a:t>
            </a:r>
            <a:endParaRPr lang="en-US" sz="1200" dirty="0"/>
          </a:p>
        </p:txBody>
      </p:sp>
      <p:sp>
        <p:nvSpPr>
          <p:cNvPr id="13" name="Text 11"/>
          <p:cNvSpPr/>
          <p:nvPr/>
        </p:nvSpPr>
        <p:spPr>
          <a:xfrm>
            <a:off x="7772400" y="4480560"/>
            <a:ext cx="548640" cy="457200"/>
          </a:xfrm>
          <a:prstGeom prst="rect">
            <a:avLst/>
          </a:prstGeom>
          <a:noFill/>
          <a:ln/>
        </p:spPr>
        <p:txBody>
          <a:bodyPr wrap="square" lIns="0" tIns="0" rIns="0" bIns="0" rtlCol="0" anchor="ctr"/>
          <a:lstStyle/>
          <a:p>
            <a:pPr marL="0" indent="0">
              <a:buNone/>
            </a:pPr>
            <a:r>
              <a:rPr lang="en-US" sz="1800" b="1" dirty="0">
                <a:solidFill>
                  <a:srgbClr val="B85042"/>
                </a:solidFill>
                <a:latin typeface="Cambria" pitchFamily="34" charset="0"/>
                <a:ea typeface="Cambria" pitchFamily="34" charset="-122"/>
                <a:cs typeface="Cambria" pitchFamily="34" charset="-120"/>
              </a:rPr>
              <a:t>03</a:t>
            </a:r>
            <a:endParaRPr lang="en-US" sz="1800" dirty="0"/>
          </a:p>
        </p:txBody>
      </p:sp>
      <p:sp>
        <p:nvSpPr>
          <p:cNvPr id="14" name="Text 12"/>
          <p:cNvSpPr/>
          <p:nvPr/>
        </p:nvSpPr>
        <p:spPr>
          <a:xfrm>
            <a:off x="8366760" y="4526280"/>
            <a:ext cx="2743200" cy="73152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Agent exposed as a FastAPI service</a:t>
            </a:r>
            <a:endParaRPr lang="en-US" sz="1200" dirty="0"/>
          </a:p>
        </p:txBody>
      </p:sp>
      <p:sp>
        <p:nvSpPr>
          <p:cNvPr id="15" name="Text 13"/>
          <p:cNvSpPr/>
          <p:nvPr/>
        </p:nvSpPr>
        <p:spPr>
          <a:xfrm>
            <a:off x="457200" y="5943600"/>
            <a:ext cx="11247120" cy="365760"/>
          </a:xfrm>
          <a:prstGeom prst="rect">
            <a:avLst/>
          </a:prstGeom>
          <a:noFill/>
          <a:ln/>
        </p:spPr>
        <p:txBody>
          <a:bodyPr wrap="square" lIns="0" tIns="0" rIns="0" bIns="0"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Between now and then: build the mini project. Stuck? WhatsApp me.</a:t>
            </a:r>
            <a:endParaRPr lang="en-US" sz="1300" dirty="0"/>
          </a:p>
        </p:txBody>
      </p:sp>
      <p:sp>
        <p:nvSpPr>
          <p:cNvPr id="16" name="Text 1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 AI Mentorship · Session 2 · Hashir</a:t>
            </a:r>
            <a:endParaRPr lang="en-US" sz="900" dirty="0"/>
          </a:p>
        </p:txBody>
      </p:sp>
      <p:sp>
        <p:nvSpPr>
          <p:cNvPr id="17" name="Text 15"/>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2375</Words>
  <Application>Microsoft Office PowerPoint</Application>
  <PresentationFormat>Widescreen</PresentationFormat>
  <Paragraphs>336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Mentorship: Session 2</dc:title>
  <dc:subject>PptxGenJS Presentation</dc:subject>
  <dc:creator>Hashir</dc:creator>
  <cp:lastModifiedBy>DELL</cp:lastModifiedBy>
  <cp:revision>2</cp:revision>
  <dcterms:created xsi:type="dcterms:W3CDTF">2026-06-25T11:08:07Z</dcterms:created>
  <dcterms:modified xsi:type="dcterms:W3CDTF">2026-06-25T12:13:36Z</dcterms:modified>
</cp:coreProperties>
</file>